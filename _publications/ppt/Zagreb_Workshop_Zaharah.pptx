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03" r:id="rId3"/>
  </p:sldMasterIdLst>
  <p:notesMasterIdLst>
    <p:notesMasterId r:id="rId21"/>
  </p:notesMasterIdLst>
  <p:handoutMasterIdLst>
    <p:handoutMasterId r:id="rId22"/>
  </p:handoutMasterIdLst>
  <p:sldIdLst>
    <p:sldId id="256" r:id="rId4"/>
    <p:sldId id="263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-2064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ing%20Folder\decision%20theory\AHP\AHP%20-%20Road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ing%20Folder\decision%20theory\AHP\AHP%20-%20Road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ing%20Folder\decision%20theory\AHP\AHP%20-%20Road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ing%20Folder\decision%20theory\AHP\AHP%20-%20Road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Minimum</a:t>
            </a:r>
            <a:r>
              <a:rPr lang="en-US" sz="1800" baseline="0" dirty="0"/>
              <a:t> cost and </a:t>
            </a:r>
            <a:r>
              <a:rPr lang="en-US" sz="1800" baseline="0" dirty="0" smtClean="0"/>
              <a:t>downtime</a:t>
            </a:r>
            <a:endParaRPr lang="en-US" sz="18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AHP!$A$69:$A$73</c:f>
              <c:strCache>
                <c:ptCount val="5"/>
                <c:pt idx="0">
                  <c:v>A: B101</c:v>
                </c:pt>
                <c:pt idx="1">
                  <c:v>B: B109</c:v>
                </c:pt>
                <c:pt idx="2">
                  <c:v>C: B207</c:v>
                </c:pt>
                <c:pt idx="3">
                  <c:v>D: B307</c:v>
                </c:pt>
                <c:pt idx="4">
                  <c:v>E: B150</c:v>
                </c:pt>
              </c:strCache>
            </c:strRef>
          </c:cat>
          <c:val>
            <c:numRef>
              <c:f>AHP!$H$69:$H$73</c:f>
              <c:numCache>
                <c:formatCode>0.00</c:formatCode>
                <c:ptCount val="5"/>
                <c:pt idx="0">
                  <c:v>0.21467815398908699</c:v>
                </c:pt>
                <c:pt idx="1">
                  <c:v>9.427837682180279E-2</c:v>
                </c:pt>
                <c:pt idx="2">
                  <c:v>0.27394589393613583</c:v>
                </c:pt>
                <c:pt idx="3">
                  <c:v>0.14997074277376474</c:v>
                </c:pt>
                <c:pt idx="4">
                  <c:v>0.18064103051012326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9E-4B86-AFF2-56254AA702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88538040"/>
        <c:axId val="488537712"/>
      </c:barChart>
      <c:catAx>
        <c:axId val="488538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8537712"/>
        <c:crosses val="autoZero"/>
        <c:auto val="1"/>
        <c:lblAlgn val="ctr"/>
        <c:lblOffset val="100"/>
        <c:noMultiLvlLbl val="0"/>
      </c:catAx>
      <c:valAx>
        <c:axId val="488537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8538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j-ea"/>
                <a:cs typeface="+mj-cs"/>
              </a:defRPr>
            </a:pPr>
            <a:r>
              <a:rPr lang="en-US" sz="1800" b="0">
                <a:latin typeface="+mn-lt"/>
              </a:rPr>
              <a:t>Minimum cost and downtime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AHP!$B$68</c:f>
              <c:strCache>
                <c:ptCount val="1"/>
                <c:pt idx="0">
                  <c:v>Maintenance cost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AHP!$A$69:$A$73</c:f>
              <c:strCache>
                <c:ptCount val="5"/>
                <c:pt idx="0">
                  <c:v>A: B101</c:v>
                </c:pt>
                <c:pt idx="1">
                  <c:v>B: B109</c:v>
                </c:pt>
                <c:pt idx="2">
                  <c:v>C: B207</c:v>
                </c:pt>
                <c:pt idx="3">
                  <c:v>D: B307</c:v>
                </c:pt>
                <c:pt idx="4">
                  <c:v>E: B150</c:v>
                </c:pt>
              </c:strCache>
            </c:strRef>
          </c:cat>
          <c:val>
            <c:numRef>
              <c:f>AHP!$B$69:$B$73</c:f>
              <c:numCache>
                <c:formatCode>0.00</c:formatCode>
                <c:ptCount val="5"/>
                <c:pt idx="0">
                  <c:v>0.19678949030190801</c:v>
                </c:pt>
                <c:pt idx="1">
                  <c:v>4.0754544105021384E-2</c:v>
                </c:pt>
                <c:pt idx="2">
                  <c:v>0.4674188902531855</c:v>
                </c:pt>
                <c:pt idx="3">
                  <c:v>8.0011681773997728E-2</c:v>
                </c:pt>
                <c:pt idx="4">
                  <c:v>0.19678949030190801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EF-4623-BF68-755AA9B63618}"/>
            </c:ext>
          </c:extLst>
        </c:ser>
        <c:ser>
          <c:idx val="1"/>
          <c:order val="1"/>
          <c:tx>
            <c:strRef>
              <c:f>AHP!$C$68</c:f>
              <c:strCache>
                <c:ptCount val="1"/>
                <c:pt idx="0">
                  <c:v>Downtime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AHP!$A$69:$A$73</c:f>
              <c:strCache>
                <c:ptCount val="5"/>
                <c:pt idx="0">
                  <c:v>A: B101</c:v>
                </c:pt>
                <c:pt idx="1">
                  <c:v>B: B109</c:v>
                </c:pt>
                <c:pt idx="2">
                  <c:v>C: B207</c:v>
                </c:pt>
                <c:pt idx="3">
                  <c:v>D: B307</c:v>
                </c:pt>
                <c:pt idx="4">
                  <c:v>E: B150</c:v>
                </c:pt>
              </c:strCache>
            </c:strRef>
          </c:cat>
          <c:val>
            <c:numRef>
              <c:f>AHP!$C$69:$C$73</c:f>
              <c:numCache>
                <c:formatCode>0.00</c:formatCode>
                <c:ptCount val="5"/>
                <c:pt idx="0">
                  <c:v>0.37140551391672688</c:v>
                </c:pt>
                <c:pt idx="1">
                  <c:v>0.11687976910494892</c:v>
                </c:pt>
                <c:pt idx="2">
                  <c:v>0.15422377994328942</c:v>
                </c:pt>
                <c:pt idx="3">
                  <c:v>2.9764309098997299E-2</c:v>
                </c:pt>
                <c:pt idx="4">
                  <c:v>0.28147274516844556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EF-4623-BF68-755AA9B63618}"/>
            </c:ext>
          </c:extLst>
        </c:ser>
        <c:ser>
          <c:idx val="2"/>
          <c:order val="2"/>
          <c:tx>
            <c:strRef>
              <c:f>AHP!$D$68</c:f>
              <c:strCache>
                <c:ptCount val="1"/>
                <c:pt idx="0">
                  <c:v>Reliability level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AHP!$A$69:$A$73</c:f>
              <c:strCache>
                <c:ptCount val="5"/>
                <c:pt idx="0">
                  <c:v>A: B101</c:v>
                </c:pt>
                <c:pt idx="1">
                  <c:v>B: B109</c:v>
                </c:pt>
                <c:pt idx="2">
                  <c:v>C: B207</c:v>
                </c:pt>
                <c:pt idx="3">
                  <c:v>D: B307</c:v>
                </c:pt>
                <c:pt idx="4">
                  <c:v>E: B150</c:v>
                </c:pt>
              </c:strCache>
            </c:strRef>
          </c:cat>
          <c:val>
            <c:numRef>
              <c:f>AHP!$D$69:$D$73</c:f>
              <c:numCache>
                <c:formatCode>0.00</c:formatCode>
                <c:ptCount val="5"/>
                <c:pt idx="0">
                  <c:v>7.2342748153865585E-2</c:v>
                </c:pt>
                <c:pt idx="1">
                  <c:v>0.19295754119594677</c:v>
                </c:pt>
                <c:pt idx="2">
                  <c:v>0.19295754119594677</c:v>
                </c:pt>
                <c:pt idx="3">
                  <c:v>0.45758734915523264</c:v>
                </c:pt>
                <c:pt idx="4">
                  <c:v>7.2342748153865585E-2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FEF-4623-BF68-755AA9B63618}"/>
            </c:ext>
          </c:extLst>
        </c:ser>
        <c:ser>
          <c:idx val="3"/>
          <c:order val="3"/>
          <c:tx>
            <c:strRef>
              <c:f>AHP!$E$68</c:f>
              <c:strCache>
                <c:ptCount val="1"/>
                <c:pt idx="0">
                  <c:v>Traffic Intensity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AHP!$A$69:$A$73</c:f>
              <c:strCache>
                <c:ptCount val="5"/>
                <c:pt idx="0">
                  <c:v>A: B101</c:v>
                </c:pt>
                <c:pt idx="1">
                  <c:v>B: B109</c:v>
                </c:pt>
                <c:pt idx="2">
                  <c:v>C: B207</c:v>
                </c:pt>
                <c:pt idx="3">
                  <c:v>D: B307</c:v>
                </c:pt>
                <c:pt idx="4">
                  <c:v>E: B150</c:v>
                </c:pt>
              </c:strCache>
            </c:strRef>
          </c:cat>
          <c:val>
            <c:numRef>
              <c:f>AHP!$E$69:$E$73</c:f>
              <c:numCache>
                <c:formatCode>0.00</c:formatCode>
                <c:ptCount val="5"/>
                <c:pt idx="0">
                  <c:v>0.10599109917113353</c:v>
                </c:pt>
                <c:pt idx="1">
                  <c:v>0.10599109917113353</c:v>
                </c:pt>
                <c:pt idx="2">
                  <c:v>0.24273785275641746</c:v>
                </c:pt>
                <c:pt idx="3">
                  <c:v>0.48590839399452029</c:v>
                </c:pt>
                <c:pt idx="4">
                  <c:v>3.0285694368857266E-2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FEF-4623-BF68-755AA9B63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281503264"/>
        <c:axId val="281503656"/>
      </c:barChart>
      <c:catAx>
        <c:axId val="2815032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1503656"/>
        <c:crosses val="autoZero"/>
        <c:auto val="1"/>
        <c:lblAlgn val="ctr"/>
        <c:lblOffset val="100"/>
        <c:noMultiLvlLbl val="0"/>
      </c:catAx>
      <c:valAx>
        <c:axId val="281503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150326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 smtClean="0"/>
              <a:t>Maximize </a:t>
            </a:r>
            <a:r>
              <a:rPr lang="en-US" sz="1800" dirty="0"/>
              <a:t>condition index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AHP!$A$79:$A$83</c:f>
              <c:strCache>
                <c:ptCount val="5"/>
                <c:pt idx="0">
                  <c:v>A: B101</c:v>
                </c:pt>
                <c:pt idx="1">
                  <c:v>B: B109</c:v>
                </c:pt>
                <c:pt idx="2">
                  <c:v>C: B207</c:v>
                </c:pt>
                <c:pt idx="3">
                  <c:v>D: B307</c:v>
                </c:pt>
                <c:pt idx="4">
                  <c:v>E: B150</c:v>
                </c:pt>
              </c:strCache>
            </c:strRef>
          </c:cat>
          <c:val>
            <c:numRef>
              <c:f>AHP!$H$79:$H$83</c:f>
              <c:numCache>
                <c:formatCode>0.00</c:formatCode>
                <c:ptCount val="5"/>
                <c:pt idx="0">
                  <c:v>0.12789154146033391</c:v>
                </c:pt>
                <c:pt idx="1">
                  <c:v>0.15073712190950658</c:v>
                </c:pt>
                <c:pt idx="2">
                  <c:v>0.23162532886899836</c:v>
                </c:pt>
                <c:pt idx="3">
                  <c:v>0.34517967154743362</c:v>
                </c:pt>
                <c:pt idx="4">
                  <c:v>0.11125517401367666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52-47CA-B87D-A2833AAEC7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149376"/>
        <c:axId val="489416720"/>
      </c:barChart>
      <c:catAx>
        <c:axId val="492149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416720"/>
        <c:crosses val="autoZero"/>
        <c:auto val="1"/>
        <c:lblAlgn val="ctr"/>
        <c:lblOffset val="100"/>
        <c:noMultiLvlLbl val="0"/>
      </c:catAx>
      <c:valAx>
        <c:axId val="489416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2149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Maximize condition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AHP!$B$78</c:f>
              <c:strCache>
                <c:ptCount val="1"/>
                <c:pt idx="0">
                  <c:v>Maintenance cost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AHP!$A$79:$A$83</c:f>
              <c:strCache>
                <c:ptCount val="5"/>
                <c:pt idx="0">
                  <c:v>A: B101</c:v>
                </c:pt>
                <c:pt idx="1">
                  <c:v>B: B109</c:v>
                </c:pt>
                <c:pt idx="2">
                  <c:v>C: B207</c:v>
                </c:pt>
                <c:pt idx="3">
                  <c:v>D: B307</c:v>
                </c:pt>
                <c:pt idx="4">
                  <c:v>E: B150</c:v>
                </c:pt>
              </c:strCache>
            </c:strRef>
          </c:cat>
          <c:val>
            <c:numRef>
              <c:f>AHP!$B$79:$B$83</c:f>
              <c:numCache>
                <c:formatCode>0.00</c:formatCode>
                <c:ptCount val="5"/>
                <c:pt idx="0">
                  <c:v>0.19678949030190801</c:v>
                </c:pt>
                <c:pt idx="1">
                  <c:v>4.0754544105021384E-2</c:v>
                </c:pt>
                <c:pt idx="2">
                  <c:v>0.4674188902531855</c:v>
                </c:pt>
                <c:pt idx="3">
                  <c:v>8.0011681773997728E-2</c:v>
                </c:pt>
                <c:pt idx="4">
                  <c:v>0.19678949030190801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47-4ADD-A45A-47839BB81600}"/>
            </c:ext>
          </c:extLst>
        </c:ser>
        <c:ser>
          <c:idx val="1"/>
          <c:order val="1"/>
          <c:tx>
            <c:strRef>
              <c:f>AHP!$C$78</c:f>
              <c:strCache>
                <c:ptCount val="1"/>
                <c:pt idx="0">
                  <c:v>Downtime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AHP!$A$79:$A$83</c:f>
              <c:strCache>
                <c:ptCount val="5"/>
                <c:pt idx="0">
                  <c:v>A: B101</c:v>
                </c:pt>
                <c:pt idx="1">
                  <c:v>B: B109</c:v>
                </c:pt>
                <c:pt idx="2">
                  <c:v>C: B207</c:v>
                </c:pt>
                <c:pt idx="3">
                  <c:v>D: B307</c:v>
                </c:pt>
                <c:pt idx="4">
                  <c:v>E: B150</c:v>
                </c:pt>
              </c:strCache>
            </c:strRef>
          </c:cat>
          <c:val>
            <c:numRef>
              <c:f>AHP!$C$79:$C$83</c:f>
              <c:numCache>
                <c:formatCode>0.00</c:formatCode>
                <c:ptCount val="5"/>
                <c:pt idx="0">
                  <c:v>0.37140551391672688</c:v>
                </c:pt>
                <c:pt idx="1">
                  <c:v>0.11687976910494892</c:v>
                </c:pt>
                <c:pt idx="2">
                  <c:v>0.15422377994328942</c:v>
                </c:pt>
                <c:pt idx="3">
                  <c:v>2.9764309098997271E-2</c:v>
                </c:pt>
                <c:pt idx="4">
                  <c:v>0.28147274516844556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47-4ADD-A45A-47839BB81600}"/>
            </c:ext>
          </c:extLst>
        </c:ser>
        <c:ser>
          <c:idx val="2"/>
          <c:order val="2"/>
          <c:tx>
            <c:strRef>
              <c:f>AHP!$D$78</c:f>
              <c:strCache>
                <c:ptCount val="1"/>
                <c:pt idx="0">
                  <c:v>Reliability level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AHP!$A$79:$A$83</c:f>
              <c:strCache>
                <c:ptCount val="5"/>
                <c:pt idx="0">
                  <c:v>A: B101</c:v>
                </c:pt>
                <c:pt idx="1">
                  <c:v>B: B109</c:v>
                </c:pt>
                <c:pt idx="2">
                  <c:v>C: B207</c:v>
                </c:pt>
                <c:pt idx="3">
                  <c:v>D: B307</c:v>
                </c:pt>
                <c:pt idx="4">
                  <c:v>E: B150</c:v>
                </c:pt>
              </c:strCache>
            </c:strRef>
          </c:cat>
          <c:val>
            <c:numRef>
              <c:f>AHP!$D$79:$D$83</c:f>
              <c:numCache>
                <c:formatCode>0.00</c:formatCode>
                <c:ptCount val="5"/>
                <c:pt idx="0">
                  <c:v>7.2342748153865585E-2</c:v>
                </c:pt>
                <c:pt idx="1">
                  <c:v>0.19295754119594677</c:v>
                </c:pt>
                <c:pt idx="2">
                  <c:v>0.19295754119594677</c:v>
                </c:pt>
                <c:pt idx="3">
                  <c:v>0.45758734915523264</c:v>
                </c:pt>
                <c:pt idx="4">
                  <c:v>7.2342748153865585E-2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47-4ADD-A45A-47839BB81600}"/>
            </c:ext>
          </c:extLst>
        </c:ser>
        <c:ser>
          <c:idx val="3"/>
          <c:order val="3"/>
          <c:tx>
            <c:strRef>
              <c:f>AHP!$E$78</c:f>
              <c:strCache>
                <c:ptCount val="1"/>
                <c:pt idx="0">
                  <c:v>Traffic Intensity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AHP!$A$79:$A$83</c:f>
              <c:strCache>
                <c:ptCount val="5"/>
                <c:pt idx="0">
                  <c:v>A: B101</c:v>
                </c:pt>
                <c:pt idx="1">
                  <c:v>B: B109</c:v>
                </c:pt>
                <c:pt idx="2">
                  <c:v>C: B207</c:v>
                </c:pt>
                <c:pt idx="3">
                  <c:v>D: B307</c:v>
                </c:pt>
                <c:pt idx="4">
                  <c:v>E: B150</c:v>
                </c:pt>
              </c:strCache>
            </c:strRef>
          </c:cat>
          <c:val>
            <c:numRef>
              <c:f>AHP!$E$79:$E$83</c:f>
              <c:numCache>
                <c:formatCode>0.00</c:formatCode>
                <c:ptCount val="5"/>
                <c:pt idx="0">
                  <c:v>0.10599109917113353</c:v>
                </c:pt>
                <c:pt idx="1">
                  <c:v>0.10599109917113353</c:v>
                </c:pt>
                <c:pt idx="2">
                  <c:v>0.24273785275641746</c:v>
                </c:pt>
                <c:pt idx="3">
                  <c:v>0.48590839399452029</c:v>
                </c:pt>
                <c:pt idx="4">
                  <c:v>3.0285694368857266E-2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147-4ADD-A45A-47839BB816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99524824"/>
        <c:axId val="199525216"/>
      </c:barChart>
      <c:catAx>
        <c:axId val="1995248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525216"/>
        <c:crosses val="autoZero"/>
        <c:auto val="1"/>
        <c:lblAlgn val="ctr"/>
        <c:lblOffset val="100"/>
        <c:noMultiLvlLbl val="0"/>
      </c:catAx>
      <c:valAx>
        <c:axId val="199525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52482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982519-ECC1-4896-BBCC-FEB65C2E7F73}" type="doc">
      <dgm:prSet loTypeId="urn:microsoft.com/office/officeart/2005/8/layout/process2" loCatId="process" qsTypeId="urn:microsoft.com/office/officeart/2005/8/quickstyle/simple2" qsCatId="simple" csTypeId="urn:microsoft.com/office/officeart/2005/8/colors/accent1_2" csCatId="accent1" phldr="1"/>
      <dgm:spPr/>
    </dgm:pt>
    <dgm:pt modelId="{4B5709D0-D08B-4062-BD6C-53BBDD32245C}">
      <dgm:prSet phldrT="[Text]"/>
      <dgm:spPr/>
      <dgm:t>
        <a:bodyPr/>
        <a:lstStyle/>
        <a:p>
          <a:r>
            <a:rPr lang="en-US" dirty="0" smtClean="0"/>
            <a:t>Comparison of decision criteria (Experts’ judgment)</a:t>
          </a:r>
          <a:endParaRPr lang="en-US" dirty="0"/>
        </a:p>
      </dgm:t>
    </dgm:pt>
    <dgm:pt modelId="{F4C96628-5343-46D0-BDFA-9AC56185CA3A}" type="parTrans" cxnId="{12DCFEE8-EE98-4F82-A1B4-8FA034D9AD2C}">
      <dgm:prSet/>
      <dgm:spPr/>
      <dgm:t>
        <a:bodyPr/>
        <a:lstStyle/>
        <a:p>
          <a:endParaRPr lang="en-US"/>
        </a:p>
      </dgm:t>
    </dgm:pt>
    <dgm:pt modelId="{ADFEBD5A-D912-481F-9AF2-AA211FEABD76}" type="sibTrans" cxnId="{12DCFEE8-EE98-4F82-A1B4-8FA034D9AD2C}">
      <dgm:prSet/>
      <dgm:spPr/>
      <dgm:t>
        <a:bodyPr/>
        <a:lstStyle/>
        <a:p>
          <a:endParaRPr lang="en-US"/>
        </a:p>
      </dgm:t>
    </dgm:pt>
    <dgm:pt modelId="{B7EA2FE8-A3F1-43E1-8E0B-BE356ADAF8B8}">
      <dgm:prSet phldrT="[Text]"/>
      <dgm:spPr/>
      <dgm:t>
        <a:bodyPr/>
        <a:lstStyle/>
        <a:p>
          <a:r>
            <a:rPr lang="en-US" dirty="0" smtClean="0"/>
            <a:t>Matrix normalization into value function  </a:t>
          </a:r>
          <a:endParaRPr lang="en-US" dirty="0"/>
        </a:p>
      </dgm:t>
    </dgm:pt>
    <dgm:pt modelId="{862DA31B-4BA3-4A14-8477-189FFB2D2F4E}" type="parTrans" cxnId="{BE41D585-5831-47D9-8706-D0C2FF342E4A}">
      <dgm:prSet/>
      <dgm:spPr/>
      <dgm:t>
        <a:bodyPr/>
        <a:lstStyle/>
        <a:p>
          <a:endParaRPr lang="en-US"/>
        </a:p>
      </dgm:t>
    </dgm:pt>
    <dgm:pt modelId="{BB824B85-5524-4FC2-871A-107F76E6B905}" type="sibTrans" cxnId="{BE41D585-5831-47D9-8706-D0C2FF342E4A}">
      <dgm:prSet/>
      <dgm:spPr/>
      <dgm:t>
        <a:bodyPr/>
        <a:lstStyle/>
        <a:p>
          <a:endParaRPr lang="en-US"/>
        </a:p>
      </dgm:t>
    </dgm:pt>
    <dgm:pt modelId="{D44DDF5B-3CEC-4850-8C43-6873260471BC}">
      <dgm:prSet phldrT="[Text]"/>
      <dgm:spPr/>
      <dgm:t>
        <a:bodyPr/>
        <a:lstStyle/>
        <a:p>
          <a:r>
            <a:rPr lang="en-US" dirty="0" smtClean="0"/>
            <a:t>Presentation</a:t>
          </a:r>
          <a:endParaRPr lang="en-US" dirty="0"/>
        </a:p>
      </dgm:t>
    </dgm:pt>
    <dgm:pt modelId="{5935F7D9-DB42-49A5-8566-EAAD69B68F90}" type="parTrans" cxnId="{68397647-2E59-4ADB-B1C3-AC74D93CED7B}">
      <dgm:prSet/>
      <dgm:spPr/>
      <dgm:t>
        <a:bodyPr/>
        <a:lstStyle/>
        <a:p>
          <a:endParaRPr lang="en-US"/>
        </a:p>
      </dgm:t>
    </dgm:pt>
    <dgm:pt modelId="{125E7436-7AB0-42C3-870F-804B98DE39CB}" type="sibTrans" cxnId="{68397647-2E59-4ADB-B1C3-AC74D93CED7B}">
      <dgm:prSet/>
      <dgm:spPr/>
      <dgm:t>
        <a:bodyPr/>
        <a:lstStyle/>
        <a:p>
          <a:endParaRPr lang="en-US"/>
        </a:p>
      </dgm:t>
    </dgm:pt>
    <dgm:pt modelId="{B331F415-E74D-438F-82D7-D8AC62BFBC35}">
      <dgm:prSet/>
      <dgm:spPr/>
      <dgm:t>
        <a:bodyPr/>
        <a:lstStyle/>
        <a:p>
          <a:r>
            <a:rPr lang="en-US" dirty="0" smtClean="0"/>
            <a:t>Define objective and identify criteria</a:t>
          </a:r>
          <a:endParaRPr lang="en-US" dirty="0"/>
        </a:p>
      </dgm:t>
    </dgm:pt>
    <dgm:pt modelId="{FACE92F6-F47E-4838-8A57-E983A21F35EF}" type="parTrans" cxnId="{5A7B166D-F3E0-49E0-9ED6-C06F5F9AB9F5}">
      <dgm:prSet/>
      <dgm:spPr/>
      <dgm:t>
        <a:bodyPr/>
        <a:lstStyle/>
        <a:p>
          <a:endParaRPr lang="en-US"/>
        </a:p>
      </dgm:t>
    </dgm:pt>
    <dgm:pt modelId="{1F5F17E6-24F7-49BD-BAE5-A6F140A57B7E}" type="sibTrans" cxnId="{5A7B166D-F3E0-49E0-9ED6-C06F5F9AB9F5}">
      <dgm:prSet/>
      <dgm:spPr/>
      <dgm:t>
        <a:bodyPr/>
        <a:lstStyle/>
        <a:p>
          <a:endParaRPr lang="en-US"/>
        </a:p>
      </dgm:t>
    </dgm:pt>
    <dgm:pt modelId="{8E5DCE87-03BD-43E6-9849-BC5A3C686413}" type="pres">
      <dgm:prSet presAssocID="{E5982519-ECC1-4896-BBCC-FEB65C2E7F73}" presName="linearFlow" presStyleCnt="0">
        <dgm:presLayoutVars>
          <dgm:resizeHandles val="exact"/>
        </dgm:presLayoutVars>
      </dgm:prSet>
      <dgm:spPr/>
    </dgm:pt>
    <dgm:pt modelId="{6B30D7BF-4E7F-41B2-9FDA-76192E369607}" type="pres">
      <dgm:prSet presAssocID="{B331F415-E74D-438F-82D7-D8AC62BFBC35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DBC42B-D517-49B2-8D4A-4475C35499AB}" type="pres">
      <dgm:prSet presAssocID="{1F5F17E6-24F7-49BD-BAE5-A6F140A57B7E}" presName="sibTrans" presStyleLbl="sibTrans2D1" presStyleIdx="0" presStyleCnt="3"/>
      <dgm:spPr/>
      <dgm:t>
        <a:bodyPr/>
        <a:lstStyle/>
        <a:p>
          <a:endParaRPr lang="en-US"/>
        </a:p>
      </dgm:t>
    </dgm:pt>
    <dgm:pt modelId="{F8EFF58A-9095-45A2-8D16-7CBDEAA518E8}" type="pres">
      <dgm:prSet presAssocID="{1F5F17E6-24F7-49BD-BAE5-A6F140A57B7E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F0ABFBFF-FF5F-46EF-93CE-62F97EBFF4C2}" type="pres">
      <dgm:prSet presAssocID="{4B5709D0-D08B-4062-BD6C-53BBDD32245C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FD60AA-8692-48DC-A7AE-91668F87F6C2}" type="pres">
      <dgm:prSet presAssocID="{ADFEBD5A-D912-481F-9AF2-AA211FEABD76}" presName="sibTrans" presStyleLbl="sibTrans2D1" presStyleIdx="1" presStyleCnt="3"/>
      <dgm:spPr/>
      <dgm:t>
        <a:bodyPr/>
        <a:lstStyle/>
        <a:p>
          <a:endParaRPr lang="en-US"/>
        </a:p>
      </dgm:t>
    </dgm:pt>
    <dgm:pt modelId="{D7A39A25-9578-45C7-A499-70927CD7F87C}" type="pres">
      <dgm:prSet presAssocID="{ADFEBD5A-D912-481F-9AF2-AA211FEABD76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36EE5333-1C20-4F5F-9A41-2D97C1C29AB4}" type="pres">
      <dgm:prSet presAssocID="{B7EA2FE8-A3F1-43E1-8E0B-BE356ADAF8B8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79FECC-301B-4793-9376-8171E927EC67}" type="pres">
      <dgm:prSet presAssocID="{BB824B85-5524-4FC2-871A-107F76E6B905}" presName="sibTrans" presStyleLbl="sibTrans2D1" presStyleIdx="2" presStyleCnt="3"/>
      <dgm:spPr/>
      <dgm:t>
        <a:bodyPr/>
        <a:lstStyle/>
        <a:p>
          <a:endParaRPr lang="en-US"/>
        </a:p>
      </dgm:t>
    </dgm:pt>
    <dgm:pt modelId="{36B59755-A439-4EDE-88A0-141BB1D10953}" type="pres">
      <dgm:prSet presAssocID="{BB824B85-5524-4FC2-871A-107F76E6B905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18D083BA-8809-4B21-A6F3-96FFD822D0C7}" type="pres">
      <dgm:prSet presAssocID="{D44DDF5B-3CEC-4850-8C43-6873260471BC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9781B2B-41E1-4138-BFA2-54EC91BE915E}" type="presOf" srcId="{1F5F17E6-24F7-49BD-BAE5-A6F140A57B7E}" destId="{5FDBC42B-D517-49B2-8D4A-4475C35499AB}" srcOrd="0" destOrd="0" presId="urn:microsoft.com/office/officeart/2005/8/layout/process2"/>
    <dgm:cxn modelId="{8F6517F8-DF53-4B02-A1B2-A9CA1FAAB423}" type="presOf" srcId="{ADFEBD5A-D912-481F-9AF2-AA211FEABD76}" destId="{A0FD60AA-8692-48DC-A7AE-91668F87F6C2}" srcOrd="0" destOrd="0" presId="urn:microsoft.com/office/officeart/2005/8/layout/process2"/>
    <dgm:cxn modelId="{3EB7CDDD-7656-4465-8186-27123A663C24}" type="presOf" srcId="{E5982519-ECC1-4896-BBCC-FEB65C2E7F73}" destId="{8E5DCE87-03BD-43E6-9849-BC5A3C686413}" srcOrd="0" destOrd="0" presId="urn:microsoft.com/office/officeart/2005/8/layout/process2"/>
    <dgm:cxn modelId="{6EA7DBE0-EAD7-444A-BEFA-0850FF6619E7}" type="presOf" srcId="{BB824B85-5524-4FC2-871A-107F76E6B905}" destId="{6579FECC-301B-4793-9376-8171E927EC67}" srcOrd="0" destOrd="0" presId="urn:microsoft.com/office/officeart/2005/8/layout/process2"/>
    <dgm:cxn modelId="{8C4BAA0A-A996-47CA-815A-773B3E87824E}" type="presOf" srcId="{4B5709D0-D08B-4062-BD6C-53BBDD32245C}" destId="{F0ABFBFF-FF5F-46EF-93CE-62F97EBFF4C2}" srcOrd="0" destOrd="0" presId="urn:microsoft.com/office/officeart/2005/8/layout/process2"/>
    <dgm:cxn modelId="{BE41D585-5831-47D9-8706-D0C2FF342E4A}" srcId="{E5982519-ECC1-4896-BBCC-FEB65C2E7F73}" destId="{B7EA2FE8-A3F1-43E1-8E0B-BE356ADAF8B8}" srcOrd="2" destOrd="0" parTransId="{862DA31B-4BA3-4A14-8477-189FFB2D2F4E}" sibTransId="{BB824B85-5524-4FC2-871A-107F76E6B905}"/>
    <dgm:cxn modelId="{5A7B166D-F3E0-49E0-9ED6-C06F5F9AB9F5}" srcId="{E5982519-ECC1-4896-BBCC-FEB65C2E7F73}" destId="{B331F415-E74D-438F-82D7-D8AC62BFBC35}" srcOrd="0" destOrd="0" parTransId="{FACE92F6-F47E-4838-8A57-E983A21F35EF}" sibTransId="{1F5F17E6-24F7-49BD-BAE5-A6F140A57B7E}"/>
    <dgm:cxn modelId="{49A10831-639B-482C-A22D-614A25779D96}" type="presOf" srcId="{ADFEBD5A-D912-481F-9AF2-AA211FEABD76}" destId="{D7A39A25-9578-45C7-A499-70927CD7F87C}" srcOrd="1" destOrd="0" presId="urn:microsoft.com/office/officeart/2005/8/layout/process2"/>
    <dgm:cxn modelId="{1B61D813-5CB3-40B5-BB6D-39D6669F649B}" type="presOf" srcId="{B7EA2FE8-A3F1-43E1-8E0B-BE356ADAF8B8}" destId="{36EE5333-1C20-4F5F-9A41-2D97C1C29AB4}" srcOrd="0" destOrd="0" presId="urn:microsoft.com/office/officeart/2005/8/layout/process2"/>
    <dgm:cxn modelId="{4C12BC47-A5D2-425E-868D-2F76CE26A27D}" type="presOf" srcId="{D44DDF5B-3CEC-4850-8C43-6873260471BC}" destId="{18D083BA-8809-4B21-A6F3-96FFD822D0C7}" srcOrd="0" destOrd="0" presId="urn:microsoft.com/office/officeart/2005/8/layout/process2"/>
    <dgm:cxn modelId="{D8063020-0449-46EC-A764-D7EE5BCD67C9}" type="presOf" srcId="{1F5F17E6-24F7-49BD-BAE5-A6F140A57B7E}" destId="{F8EFF58A-9095-45A2-8D16-7CBDEAA518E8}" srcOrd="1" destOrd="0" presId="urn:microsoft.com/office/officeart/2005/8/layout/process2"/>
    <dgm:cxn modelId="{9A6F7648-FAA0-4938-8013-1F08F6B62C21}" type="presOf" srcId="{B331F415-E74D-438F-82D7-D8AC62BFBC35}" destId="{6B30D7BF-4E7F-41B2-9FDA-76192E369607}" srcOrd="0" destOrd="0" presId="urn:microsoft.com/office/officeart/2005/8/layout/process2"/>
    <dgm:cxn modelId="{12DCFEE8-EE98-4F82-A1B4-8FA034D9AD2C}" srcId="{E5982519-ECC1-4896-BBCC-FEB65C2E7F73}" destId="{4B5709D0-D08B-4062-BD6C-53BBDD32245C}" srcOrd="1" destOrd="0" parTransId="{F4C96628-5343-46D0-BDFA-9AC56185CA3A}" sibTransId="{ADFEBD5A-D912-481F-9AF2-AA211FEABD76}"/>
    <dgm:cxn modelId="{152473AD-553E-4C7A-A69A-92914F64B656}" type="presOf" srcId="{BB824B85-5524-4FC2-871A-107F76E6B905}" destId="{36B59755-A439-4EDE-88A0-141BB1D10953}" srcOrd="1" destOrd="0" presId="urn:microsoft.com/office/officeart/2005/8/layout/process2"/>
    <dgm:cxn modelId="{68397647-2E59-4ADB-B1C3-AC74D93CED7B}" srcId="{E5982519-ECC1-4896-BBCC-FEB65C2E7F73}" destId="{D44DDF5B-3CEC-4850-8C43-6873260471BC}" srcOrd="3" destOrd="0" parTransId="{5935F7D9-DB42-49A5-8566-EAAD69B68F90}" sibTransId="{125E7436-7AB0-42C3-870F-804B98DE39CB}"/>
    <dgm:cxn modelId="{FA9C3334-BB69-47D9-A8E3-B6DD2BE9F10B}" type="presParOf" srcId="{8E5DCE87-03BD-43E6-9849-BC5A3C686413}" destId="{6B30D7BF-4E7F-41B2-9FDA-76192E369607}" srcOrd="0" destOrd="0" presId="urn:microsoft.com/office/officeart/2005/8/layout/process2"/>
    <dgm:cxn modelId="{04772F1C-39D4-43F0-9EDA-5DE7F51F264C}" type="presParOf" srcId="{8E5DCE87-03BD-43E6-9849-BC5A3C686413}" destId="{5FDBC42B-D517-49B2-8D4A-4475C35499AB}" srcOrd="1" destOrd="0" presId="urn:microsoft.com/office/officeart/2005/8/layout/process2"/>
    <dgm:cxn modelId="{87DAE7D5-C8BC-490E-B8A3-2FEF8A8C7CD3}" type="presParOf" srcId="{5FDBC42B-D517-49B2-8D4A-4475C35499AB}" destId="{F8EFF58A-9095-45A2-8D16-7CBDEAA518E8}" srcOrd="0" destOrd="0" presId="urn:microsoft.com/office/officeart/2005/8/layout/process2"/>
    <dgm:cxn modelId="{6143CC0C-4CF1-4F90-8306-476085A7395B}" type="presParOf" srcId="{8E5DCE87-03BD-43E6-9849-BC5A3C686413}" destId="{F0ABFBFF-FF5F-46EF-93CE-62F97EBFF4C2}" srcOrd="2" destOrd="0" presId="urn:microsoft.com/office/officeart/2005/8/layout/process2"/>
    <dgm:cxn modelId="{389ED8CB-5689-44F9-9770-A3997FEAB0DF}" type="presParOf" srcId="{8E5DCE87-03BD-43E6-9849-BC5A3C686413}" destId="{A0FD60AA-8692-48DC-A7AE-91668F87F6C2}" srcOrd="3" destOrd="0" presId="urn:microsoft.com/office/officeart/2005/8/layout/process2"/>
    <dgm:cxn modelId="{6D55DDD8-6B2F-4C63-A88C-EEB4D2746295}" type="presParOf" srcId="{A0FD60AA-8692-48DC-A7AE-91668F87F6C2}" destId="{D7A39A25-9578-45C7-A499-70927CD7F87C}" srcOrd="0" destOrd="0" presId="urn:microsoft.com/office/officeart/2005/8/layout/process2"/>
    <dgm:cxn modelId="{F6824864-CF91-459C-907B-DC79897E9556}" type="presParOf" srcId="{8E5DCE87-03BD-43E6-9849-BC5A3C686413}" destId="{36EE5333-1C20-4F5F-9A41-2D97C1C29AB4}" srcOrd="4" destOrd="0" presId="urn:microsoft.com/office/officeart/2005/8/layout/process2"/>
    <dgm:cxn modelId="{730C2FCF-2258-4247-8296-1B76EACF666B}" type="presParOf" srcId="{8E5DCE87-03BD-43E6-9849-BC5A3C686413}" destId="{6579FECC-301B-4793-9376-8171E927EC67}" srcOrd="5" destOrd="0" presId="urn:microsoft.com/office/officeart/2005/8/layout/process2"/>
    <dgm:cxn modelId="{01C77BF7-F80E-41DD-962F-05FE84DF6F18}" type="presParOf" srcId="{6579FECC-301B-4793-9376-8171E927EC67}" destId="{36B59755-A439-4EDE-88A0-141BB1D10953}" srcOrd="0" destOrd="0" presId="urn:microsoft.com/office/officeart/2005/8/layout/process2"/>
    <dgm:cxn modelId="{2C7A9091-EEC3-4872-B909-991964AD64B9}" type="presParOf" srcId="{8E5DCE87-03BD-43E6-9849-BC5A3C686413}" destId="{18D083BA-8809-4B21-A6F3-96FFD822D0C7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30D7BF-4E7F-41B2-9FDA-76192E369607}">
      <dsp:nvSpPr>
        <dsp:cNvPr id="0" name=""/>
        <dsp:cNvSpPr/>
      </dsp:nvSpPr>
      <dsp:spPr>
        <a:xfrm>
          <a:off x="838521" y="1822"/>
          <a:ext cx="2646813" cy="678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Define objective and identify criteria</a:t>
          </a:r>
          <a:endParaRPr lang="en-US" sz="1800" kern="1200" dirty="0"/>
        </a:p>
      </dsp:txBody>
      <dsp:txXfrm>
        <a:off x="858382" y="21683"/>
        <a:ext cx="2607091" cy="638370"/>
      </dsp:txXfrm>
    </dsp:sp>
    <dsp:sp modelId="{5FDBC42B-D517-49B2-8D4A-4475C35499AB}">
      <dsp:nvSpPr>
        <dsp:cNvPr id="0" name=""/>
        <dsp:cNvSpPr/>
      </dsp:nvSpPr>
      <dsp:spPr>
        <a:xfrm rot="5400000">
          <a:off x="2034786" y="696867"/>
          <a:ext cx="254284" cy="3051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-5400000">
        <a:off x="2070386" y="722296"/>
        <a:ext cx="183085" cy="177999"/>
      </dsp:txXfrm>
    </dsp:sp>
    <dsp:sp modelId="{F0ABFBFF-FF5F-46EF-93CE-62F97EBFF4C2}">
      <dsp:nvSpPr>
        <dsp:cNvPr id="0" name=""/>
        <dsp:cNvSpPr/>
      </dsp:nvSpPr>
      <dsp:spPr>
        <a:xfrm>
          <a:off x="838521" y="1018962"/>
          <a:ext cx="2646813" cy="678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Comparison of decision criteria (Experts’ judgment)</a:t>
          </a:r>
          <a:endParaRPr lang="en-US" sz="1800" kern="1200" dirty="0"/>
        </a:p>
      </dsp:txBody>
      <dsp:txXfrm>
        <a:off x="858382" y="1038823"/>
        <a:ext cx="2607091" cy="638370"/>
      </dsp:txXfrm>
    </dsp:sp>
    <dsp:sp modelId="{A0FD60AA-8692-48DC-A7AE-91668F87F6C2}">
      <dsp:nvSpPr>
        <dsp:cNvPr id="0" name=""/>
        <dsp:cNvSpPr/>
      </dsp:nvSpPr>
      <dsp:spPr>
        <a:xfrm rot="5400000">
          <a:off x="2034786" y="1714007"/>
          <a:ext cx="254284" cy="3051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-5400000">
        <a:off x="2070386" y="1739436"/>
        <a:ext cx="183085" cy="177999"/>
      </dsp:txXfrm>
    </dsp:sp>
    <dsp:sp modelId="{36EE5333-1C20-4F5F-9A41-2D97C1C29AB4}">
      <dsp:nvSpPr>
        <dsp:cNvPr id="0" name=""/>
        <dsp:cNvSpPr/>
      </dsp:nvSpPr>
      <dsp:spPr>
        <a:xfrm>
          <a:off x="838521" y="2036101"/>
          <a:ext cx="2646813" cy="678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Matrix normalization into value function  </a:t>
          </a:r>
          <a:endParaRPr lang="en-US" sz="1800" kern="1200" dirty="0"/>
        </a:p>
      </dsp:txBody>
      <dsp:txXfrm>
        <a:off x="858382" y="2055962"/>
        <a:ext cx="2607091" cy="638370"/>
      </dsp:txXfrm>
    </dsp:sp>
    <dsp:sp modelId="{6579FECC-301B-4793-9376-8171E927EC67}">
      <dsp:nvSpPr>
        <dsp:cNvPr id="0" name=""/>
        <dsp:cNvSpPr/>
      </dsp:nvSpPr>
      <dsp:spPr>
        <a:xfrm rot="5400000">
          <a:off x="2034786" y="2731146"/>
          <a:ext cx="254284" cy="3051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-5400000">
        <a:off x="2070386" y="2756575"/>
        <a:ext cx="183085" cy="177999"/>
      </dsp:txXfrm>
    </dsp:sp>
    <dsp:sp modelId="{18D083BA-8809-4B21-A6F3-96FFD822D0C7}">
      <dsp:nvSpPr>
        <dsp:cNvPr id="0" name=""/>
        <dsp:cNvSpPr/>
      </dsp:nvSpPr>
      <dsp:spPr>
        <a:xfrm>
          <a:off x="838521" y="3053240"/>
          <a:ext cx="2646813" cy="6780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Presentation</a:t>
          </a:r>
          <a:endParaRPr lang="en-US" sz="1800" kern="1200" dirty="0"/>
        </a:p>
      </dsp:txBody>
      <dsp:txXfrm>
        <a:off x="858382" y="3073101"/>
        <a:ext cx="2607091" cy="6383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PRESENTATION TITLE HERE / JOHN DOE ET AL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6F0EF0-FD4A-4D88-A0DD-7AE457F1C48A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3028DF-0A20-4C48-BFC3-94A301FD1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8590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PRESENTATION TITLE HERE / JOHN DOE ET AL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911FB-C7DC-4A71-9CBA-C5FCA8A6A088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10CCA-1C95-4C81-823A-3DB7AE280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00252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PRESENTATION TITLE HERE / JOHN DOE ET 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222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When we talk about network level, we zoom</a:t>
            </a:r>
            <a:r>
              <a:rPr lang="en-US" baseline="0" dirty="0" smtClean="0"/>
              <a:t> out a bit and consider the </a:t>
            </a:r>
            <a:r>
              <a:rPr lang="en-US" baseline="0" dirty="0" err="1" smtClean="0"/>
              <a:t>startgic</a:t>
            </a:r>
            <a:r>
              <a:rPr lang="en-US" baseline="0" dirty="0" smtClean="0"/>
              <a:t> decision making. Where we have wider scope of objectives and constrains.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3555E2-030C-4E26-B70D-D294710F30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13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Imagine having</a:t>
            </a:r>
            <a:r>
              <a:rPr lang="en-US" baseline="0" dirty="0" smtClean="0"/>
              <a:t> number of alternatives that are reaching to maximum state.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3555E2-030C-4E26-B70D-D294710F30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9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Weifhting</a:t>
            </a:r>
            <a:r>
              <a:rPr lang="en-US" dirty="0" smtClean="0"/>
              <a:t>: preference</a:t>
            </a:r>
            <a:r>
              <a:rPr lang="en-US" baseline="0" dirty="0" smtClean="0"/>
              <a:t> for a one </a:t>
            </a:r>
            <a:r>
              <a:rPr lang="en-US" baseline="0" dirty="0" err="1" smtClean="0"/>
              <a:t>creteria</a:t>
            </a:r>
            <a:r>
              <a:rPr lang="en-US" baseline="0" dirty="0" smtClean="0"/>
              <a:t>/</a:t>
            </a:r>
            <a:r>
              <a:rPr lang="en-US" baseline="0" dirty="0" err="1" smtClean="0"/>
              <a:t>attributr</a:t>
            </a:r>
            <a:endParaRPr lang="en-US" baseline="0" dirty="0" smtClean="0"/>
          </a:p>
          <a:p>
            <a:r>
              <a:rPr lang="en-US" baseline="0" dirty="0" smtClean="0"/>
              <a:t>Scaling: to convert</a:t>
            </a:r>
          </a:p>
          <a:p>
            <a:r>
              <a:rPr lang="en-US" baseline="0" dirty="0" err="1" smtClean="0"/>
              <a:t>Amagaltion</a:t>
            </a:r>
            <a:r>
              <a:rPr lang="en-US" baseline="0" dirty="0" smtClean="0"/>
              <a:t> preference among multiple </a:t>
            </a:r>
            <a:r>
              <a:rPr lang="en-US" baseline="0" dirty="0" err="1" smtClean="0"/>
              <a:t>creteria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3555E2-030C-4E26-B70D-D294710F30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49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</a:t>
            </a:r>
            <a:r>
              <a:rPr lang="en-US" baseline="0" dirty="0" smtClean="0"/>
              <a:t> all of the criteria of same importance. So a pairwise comparison to compare each of the objective with other one.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25B4E-ADE4-4ECF-A8F5-976C79AD950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83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3555E2-030C-4E26-B70D-D294710F30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96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hr-H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75787" y="6423249"/>
            <a:ext cx="3370560" cy="432048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 b="1" dirty="0" smtClean="0">
                <a:solidFill>
                  <a:schemeClr val="tx1"/>
                </a:solidFill>
                <a:latin typeface="Arial "/>
              </a:rPr>
              <a:t>02</a:t>
            </a:r>
            <a:r>
              <a:rPr lang="en-US" b="1" baseline="30000" dirty="0" smtClean="0">
                <a:solidFill>
                  <a:schemeClr val="tx1"/>
                </a:solidFill>
                <a:latin typeface="Arial "/>
              </a:rPr>
              <a:t>nd </a:t>
            </a:r>
            <a:r>
              <a:rPr lang="en-US" b="1" dirty="0" smtClean="0">
                <a:solidFill>
                  <a:schemeClr val="tx1"/>
                </a:solidFill>
                <a:latin typeface="Arial "/>
              </a:rPr>
              <a:t>– 03</a:t>
            </a:r>
            <a:r>
              <a:rPr lang="en-US" b="1" baseline="30000" dirty="0" smtClean="0">
                <a:solidFill>
                  <a:schemeClr val="tx1"/>
                </a:solidFill>
                <a:latin typeface="Arial "/>
              </a:rPr>
              <a:t>rd</a:t>
            </a:r>
            <a:r>
              <a:rPr lang="en-US" b="1" dirty="0" smtClean="0">
                <a:solidFill>
                  <a:schemeClr val="tx1"/>
                </a:solidFill>
                <a:latin typeface="Arial "/>
              </a:rPr>
              <a:t>  March 2017 </a:t>
            </a:r>
            <a:br>
              <a:rPr lang="en-US" b="1" dirty="0" smtClean="0">
                <a:solidFill>
                  <a:schemeClr val="tx1"/>
                </a:solidFill>
                <a:latin typeface="Arial "/>
              </a:rPr>
            </a:br>
            <a:r>
              <a:rPr lang="en-US" b="1" dirty="0" smtClean="0">
                <a:solidFill>
                  <a:schemeClr val="tx1"/>
                </a:solidFill>
                <a:latin typeface="Arial "/>
              </a:rPr>
              <a:t>Zagreb, Croatia</a:t>
            </a:r>
            <a:endParaRPr lang="en-US" baseline="30000" dirty="0" smtClean="0">
              <a:solidFill>
                <a:schemeClr val="tx1"/>
              </a:solidFill>
              <a:latin typeface="Arial "/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1143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268E219-4877-47A1-B53F-F42DC2EFD365}" type="datetimeFigureOut">
              <a:rPr lang="hr-HR" smtClean="0"/>
              <a:t>28.2.2017.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75787" y="6456362"/>
            <a:ext cx="3370560" cy="360040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161FC3B-B097-406F-B945-4BF9CE5770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05073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268E219-4877-47A1-B53F-F42DC2EFD365}" type="datetimeFigureOut">
              <a:rPr lang="hr-HR" smtClean="0"/>
              <a:t>28.2.2017.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75787" y="6456362"/>
            <a:ext cx="3370560" cy="360040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161FC3B-B097-406F-B945-4BF9CE5770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2488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268E219-4877-47A1-B53F-F42DC2EFD365}" type="datetimeFigureOut">
              <a:rPr lang="hr-HR" smtClean="0"/>
              <a:t>28.2.2017.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75787" y="6456362"/>
            <a:ext cx="3370560" cy="360040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161FC3B-B097-406F-B945-4BF9CE5770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54361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268E219-4877-47A1-B53F-F42DC2EFD365}" type="datetimeFigureOut">
              <a:rPr lang="hr-HR" smtClean="0"/>
              <a:t>28.2.2017.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75787" y="6456362"/>
            <a:ext cx="3370560" cy="360040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161FC3B-B097-406F-B945-4BF9CE5770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16094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268E219-4877-47A1-B53F-F42DC2EFD365}" type="datetimeFigureOut">
              <a:rPr lang="hr-HR" smtClean="0"/>
              <a:t>28.2.2017.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75787" y="6456362"/>
            <a:ext cx="3370560" cy="360040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161FC3B-B097-406F-B945-4BF9CE5770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3752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268E219-4877-47A1-B53F-F42DC2EFD365}" type="datetimeFigureOut">
              <a:rPr lang="hr-HR" smtClean="0"/>
              <a:t>28.2.2017.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75787" y="6456362"/>
            <a:ext cx="3370560" cy="360040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161FC3B-B097-406F-B945-4BF9CE5770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47691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268E219-4877-47A1-B53F-F42DC2EFD365}" type="datetimeFigureOut">
              <a:rPr lang="hr-HR" smtClean="0"/>
              <a:t>28.2.2017.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75787" y="6456362"/>
            <a:ext cx="3370560" cy="360040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161FC3B-B097-406F-B945-4BF9CE5770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94666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268E219-4877-47A1-B53F-F42DC2EFD365}" type="datetimeFigureOut">
              <a:rPr lang="hr-HR" smtClean="0"/>
              <a:t>28.2.2017.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75787" y="6456362"/>
            <a:ext cx="3370560" cy="360040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161FC3B-B097-406F-B945-4BF9CE5770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9580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268E219-4877-47A1-B53F-F42DC2EFD365}" type="datetimeFigureOut">
              <a:rPr lang="hr-HR" smtClean="0"/>
              <a:t>28.2.2017.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75787" y="6456362"/>
            <a:ext cx="3370560" cy="360040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161FC3B-B097-406F-B945-4BF9CE5770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75655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268E219-4877-47A1-B53F-F42DC2EFD365}" type="datetimeFigureOut">
              <a:rPr lang="hr-HR" smtClean="0"/>
              <a:t>28.2.2017.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75787" y="6456362"/>
            <a:ext cx="3370560" cy="360040"/>
          </a:xfrm>
          <a:prstGeom prst="rect">
            <a:avLst/>
          </a:prstGeo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161FC3B-B097-406F-B945-4BF9CE5770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61385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84299" y="6427709"/>
            <a:ext cx="2844800" cy="365125"/>
          </a:xfrm>
          <a:prstGeom prst="rect">
            <a:avLst/>
          </a:prstGeom>
        </p:spPr>
        <p:txBody>
          <a:bodyPr/>
          <a:lstStyle/>
          <a:p>
            <a:r>
              <a:rPr lang="hr-HR" dirty="0" smtClean="0"/>
              <a:t>SLIDE </a:t>
            </a:r>
            <a:fld id="{A3D9B1B8-CCD4-47B2-9D6D-5D98C997AA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70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F0B37-12D4-401B-A158-9D7DCF47D370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3D9B1B8-CCD4-47B2-9D6D-5D98C997AAC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39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F0B37-12D4-401B-A158-9D7DCF47D370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3D9B1B8-CCD4-47B2-9D6D-5D98C997AAC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25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F0B37-12D4-401B-A158-9D7DCF47D370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3D9B1B8-CCD4-47B2-9D6D-5D98C997AAC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230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F0B37-12D4-401B-A158-9D7DCF47D370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3D9B1B8-CCD4-47B2-9D6D-5D98C997AAC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56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F0B37-12D4-401B-A158-9D7DCF47D370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3D9B1B8-CCD4-47B2-9D6D-5D98C997AAC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18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F0B37-12D4-401B-A158-9D7DCF47D370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3D9B1B8-CCD4-47B2-9D6D-5D98C997AA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241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F0B37-12D4-401B-A158-9D7DCF47D370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3D9B1B8-CCD4-47B2-9D6D-5D98C997AAC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69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F0B37-12D4-401B-A158-9D7DCF47D370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3D9B1B8-CCD4-47B2-9D6D-5D98C997AAC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426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F0B37-12D4-401B-A158-9D7DCF47D370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3D9B1B8-CCD4-47B2-9D6D-5D98C997AAC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052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F0B37-12D4-401B-A158-9D7DCF47D370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3D9B1B8-CCD4-47B2-9D6D-5D98C997AAC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09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75787" y="6423249"/>
            <a:ext cx="3370560" cy="432048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 b="1" dirty="0" smtClean="0">
                <a:solidFill>
                  <a:schemeClr val="tx1"/>
                </a:solidFill>
                <a:latin typeface="Arial "/>
              </a:rPr>
              <a:t>02</a:t>
            </a:r>
            <a:r>
              <a:rPr lang="en-US" b="1" baseline="30000" dirty="0" smtClean="0">
                <a:solidFill>
                  <a:schemeClr val="tx1"/>
                </a:solidFill>
                <a:latin typeface="Arial "/>
              </a:rPr>
              <a:t>nd </a:t>
            </a:r>
            <a:r>
              <a:rPr lang="en-US" b="1" dirty="0" smtClean="0">
                <a:solidFill>
                  <a:schemeClr val="tx1"/>
                </a:solidFill>
                <a:latin typeface="Arial "/>
              </a:rPr>
              <a:t>– 03</a:t>
            </a:r>
            <a:r>
              <a:rPr lang="en-US" b="1" baseline="30000" dirty="0" smtClean="0">
                <a:solidFill>
                  <a:schemeClr val="tx1"/>
                </a:solidFill>
                <a:latin typeface="Arial "/>
              </a:rPr>
              <a:t>rd</a:t>
            </a:r>
            <a:r>
              <a:rPr lang="en-US" b="1" dirty="0" smtClean="0">
                <a:solidFill>
                  <a:schemeClr val="tx1"/>
                </a:solidFill>
                <a:latin typeface="Arial "/>
              </a:rPr>
              <a:t>  March 2017 </a:t>
            </a:r>
            <a:br>
              <a:rPr lang="en-US" b="1" dirty="0" smtClean="0">
                <a:solidFill>
                  <a:schemeClr val="tx1"/>
                </a:solidFill>
                <a:latin typeface="Arial "/>
              </a:rPr>
            </a:br>
            <a:r>
              <a:rPr lang="en-US" b="1" dirty="0" smtClean="0">
                <a:solidFill>
                  <a:schemeClr val="tx1"/>
                </a:solidFill>
                <a:latin typeface="Arial "/>
              </a:rPr>
              <a:t>Zagreb, Croatia</a:t>
            </a:r>
            <a:endParaRPr lang="en-US" baseline="30000" dirty="0" smtClean="0">
              <a:solidFill>
                <a:schemeClr val="tx1"/>
              </a:solidFill>
              <a:latin typeface="Arial "/>
            </a:endParaRPr>
          </a:p>
          <a:p>
            <a:endParaRPr lang="hr-HR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96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smtClean="0"/>
              <a:pPr/>
              <a:t>2/28/2017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49747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406943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007047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2/28/2017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59898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2/28/2017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186685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B37-12D4-401B-A158-9D7DCF47D370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B1B8-CCD4-47B2-9D6D-5D98C997A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112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2/28/2017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12777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2/28/2017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067702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058F-B960-4439-B370-43D89816EE05}" type="datetimeFigureOut">
              <a:rPr lang="en-US" smtClean="0"/>
              <a:t>2/28/2017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29B06-CF2A-459A-8CBC-F18C1D67D2B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43991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402220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014243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F0B37-12D4-401B-A158-9D7DCF47D370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3D9B1B8-CCD4-47B2-9D6D-5D98C997AAC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080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F0B37-12D4-401B-A158-9D7DCF47D370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3D9B1B8-CCD4-47B2-9D6D-5D98C997AAC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17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DAF0B37-12D4-401B-A158-9D7DCF47D370}" type="datetimeFigureOut">
              <a:rPr lang="en-US" smtClean="0"/>
              <a:t>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3D9B1B8-CCD4-47B2-9D6D-5D98C997AAC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8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w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image" Target="../media/image7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image" Target="../media/image6.png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5.wmf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3.xml"/><Relationship Id="rId19" Type="http://schemas.openxmlformats.org/officeDocument/2006/relationships/image" Target="../media/image8.emf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 userDrawn="1"/>
        </p:nvPicPr>
        <p:blipFill rotWithShape="1">
          <a:blip r:embed="rId13"/>
          <a:srcRect r="4908"/>
          <a:stretch/>
        </p:blipFill>
        <p:spPr bwMode="auto">
          <a:xfrm>
            <a:off x="335360" y="188640"/>
            <a:ext cx="3456384" cy="100811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5269654" y="156121"/>
            <a:ext cx="1652693" cy="107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/>
          <p:nvPr userDrawn="1"/>
        </p:nvPicPr>
        <p:blipFill>
          <a:blip r:embed="rId15"/>
          <a:srcRect/>
          <a:stretch>
            <a:fillRect/>
          </a:stretch>
        </p:blipFill>
        <p:spPr bwMode="auto">
          <a:xfrm>
            <a:off x="8304246" y="194080"/>
            <a:ext cx="3666913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Subtitle 2"/>
          <p:cNvSpPr txBox="1">
            <a:spLocks/>
          </p:cNvSpPr>
          <p:nvPr userDrawn="1"/>
        </p:nvSpPr>
        <p:spPr>
          <a:xfrm>
            <a:off x="1871531" y="1484784"/>
            <a:ext cx="8534400" cy="4320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ZAGREB JOINT WORKSHOP</a:t>
            </a: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ubtitle 2"/>
          <p:cNvSpPr txBox="1">
            <a:spLocks/>
          </p:cNvSpPr>
          <p:nvPr userDrawn="1"/>
        </p:nvSpPr>
        <p:spPr>
          <a:xfrm>
            <a:off x="815414" y="1916832"/>
            <a:ext cx="10830309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Value of Structural Health Monitoring for the reliable bridge Management</a:t>
            </a:r>
            <a:endParaRPr lang="en-US" sz="1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/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3" t="16940" r="6640"/>
          <a:stretch/>
        </p:blipFill>
        <p:spPr bwMode="auto">
          <a:xfrm>
            <a:off x="7750387" y="6030323"/>
            <a:ext cx="4441613" cy="8032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Subtitle 5"/>
          <p:cNvSpPr txBox="1">
            <a:spLocks/>
          </p:cNvSpPr>
          <p:nvPr userDrawn="1"/>
        </p:nvSpPr>
        <p:spPr>
          <a:xfrm>
            <a:off x="0" y="6254848"/>
            <a:ext cx="12192000" cy="4550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400" b="0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1" dirty="0" smtClean="0">
                <a:solidFill>
                  <a:schemeClr val="tx1"/>
                </a:solidFill>
                <a:latin typeface="Arial "/>
              </a:rPr>
              <a:t>02</a:t>
            </a:r>
            <a:r>
              <a:rPr lang="en-US" sz="1300" b="1" baseline="30000" dirty="0" smtClean="0">
                <a:solidFill>
                  <a:schemeClr val="tx1"/>
                </a:solidFill>
                <a:latin typeface="Arial "/>
              </a:rPr>
              <a:t>nd </a:t>
            </a:r>
            <a:r>
              <a:rPr lang="en-US" sz="1300" b="1" dirty="0" smtClean="0">
                <a:solidFill>
                  <a:schemeClr val="tx1"/>
                </a:solidFill>
                <a:latin typeface="Arial "/>
              </a:rPr>
              <a:t>– 03</a:t>
            </a:r>
            <a:r>
              <a:rPr lang="en-US" sz="1300" b="1" baseline="30000" dirty="0" smtClean="0">
                <a:solidFill>
                  <a:schemeClr val="tx1"/>
                </a:solidFill>
                <a:latin typeface="Arial "/>
              </a:rPr>
              <a:t>rd</a:t>
            </a:r>
            <a:r>
              <a:rPr lang="en-US" sz="1300" b="1" dirty="0" smtClean="0">
                <a:solidFill>
                  <a:schemeClr val="tx1"/>
                </a:solidFill>
                <a:latin typeface="Arial "/>
              </a:rPr>
              <a:t>  March 2017 </a:t>
            </a:r>
            <a:br>
              <a:rPr lang="en-US" sz="1300" b="1" dirty="0" smtClean="0">
                <a:solidFill>
                  <a:schemeClr val="tx1"/>
                </a:solidFill>
                <a:latin typeface="Arial "/>
              </a:rPr>
            </a:br>
            <a:r>
              <a:rPr lang="en-US" sz="1300" b="1" dirty="0" smtClean="0">
                <a:solidFill>
                  <a:schemeClr val="tx1"/>
                </a:solidFill>
                <a:latin typeface="Arial "/>
              </a:rPr>
              <a:t>Zagreb, Croatia</a:t>
            </a:r>
            <a:endParaRPr lang="en-US" sz="1300" baseline="30000" dirty="0">
              <a:solidFill>
                <a:schemeClr val="tx1"/>
              </a:solidFill>
              <a:latin typeface="Arial "/>
            </a:endParaRPr>
          </a:p>
        </p:txBody>
      </p:sp>
    </p:spTree>
    <p:extLst>
      <p:ext uri="{BB962C8B-B14F-4D97-AF65-F5344CB8AC3E}">
        <p14:creationId xmlns:p14="http://schemas.microsoft.com/office/powerpoint/2010/main" val="364512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4"/>
          <p:cNvSpPr txBox="1">
            <a:spLocks/>
          </p:cNvSpPr>
          <p:nvPr userDrawn="1"/>
        </p:nvSpPr>
        <p:spPr>
          <a:xfrm>
            <a:off x="3695734" y="6415486"/>
            <a:ext cx="508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sr-Latn-RS"/>
            </a:defPPr>
            <a:lvl1pPr marL="0" algn="ctr" defTabSz="9144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1200" dirty="0" smtClean="0">
                <a:latin typeface="Arial "/>
              </a:rPr>
              <a:t>JOINT WORKSHOP</a:t>
            </a:r>
          </a:p>
          <a:p>
            <a:r>
              <a:rPr lang="hr-HR" sz="1200" dirty="0" smtClean="0">
                <a:latin typeface="Arial "/>
              </a:rPr>
              <a:t>COST</a:t>
            </a:r>
            <a:r>
              <a:rPr lang="hr-HR" sz="1200" baseline="0" dirty="0" smtClean="0">
                <a:latin typeface="Arial "/>
              </a:rPr>
              <a:t> TU1402 – COST TU1406 – IABSE</a:t>
            </a:r>
          </a:p>
          <a:p>
            <a:r>
              <a:rPr lang="hr-HR" sz="1200" b="1" dirty="0" smtClean="0">
                <a:solidFill>
                  <a:schemeClr val="tx1"/>
                </a:solidFill>
                <a:latin typeface="Arial "/>
              </a:rPr>
              <a:t>Zagreb,</a:t>
            </a:r>
            <a:r>
              <a:rPr lang="hr-HR" sz="1200" b="1" baseline="0" dirty="0" smtClean="0">
                <a:solidFill>
                  <a:schemeClr val="tx1"/>
                </a:solidFill>
                <a:latin typeface="Arial "/>
              </a:rPr>
              <a:t> </a:t>
            </a:r>
            <a:r>
              <a:rPr lang="en-US" sz="1200" b="1" dirty="0" smtClean="0">
                <a:solidFill>
                  <a:schemeClr val="tx1"/>
                </a:solidFill>
                <a:latin typeface="Arial "/>
              </a:rPr>
              <a:t>02</a:t>
            </a:r>
            <a:r>
              <a:rPr lang="en-US" sz="1200" b="1" baseline="30000" dirty="0" smtClean="0">
                <a:solidFill>
                  <a:schemeClr val="tx1"/>
                </a:solidFill>
                <a:latin typeface="Arial "/>
              </a:rPr>
              <a:t>nd </a:t>
            </a:r>
            <a:r>
              <a:rPr lang="en-US" sz="1200" b="1" dirty="0" smtClean="0">
                <a:solidFill>
                  <a:schemeClr val="tx1"/>
                </a:solidFill>
                <a:latin typeface="Arial "/>
              </a:rPr>
              <a:t>– 03</a:t>
            </a:r>
            <a:r>
              <a:rPr lang="en-US" sz="1200" b="1" baseline="30000" dirty="0" smtClean="0">
                <a:solidFill>
                  <a:schemeClr val="tx1"/>
                </a:solidFill>
                <a:latin typeface="Arial "/>
              </a:rPr>
              <a:t>rd</a:t>
            </a:r>
            <a:r>
              <a:rPr lang="en-US" sz="1200" b="1" dirty="0" smtClean="0">
                <a:solidFill>
                  <a:schemeClr val="tx1"/>
                </a:solidFill>
                <a:latin typeface="Arial "/>
              </a:rPr>
              <a:t>  March 2017</a:t>
            </a:r>
            <a:r>
              <a:rPr lang="hr-HR" sz="1200" baseline="0" dirty="0" smtClean="0">
                <a:latin typeface="Arial "/>
              </a:rPr>
              <a:t/>
            </a:r>
            <a:br>
              <a:rPr lang="hr-HR" sz="1200" baseline="0" dirty="0" smtClean="0">
                <a:latin typeface="Arial "/>
              </a:rPr>
            </a:br>
            <a:endParaRPr lang="en-US" sz="1200" dirty="0">
              <a:latin typeface="Arial "/>
            </a:endParaRPr>
          </a:p>
        </p:txBody>
      </p:sp>
      <p:pic>
        <p:nvPicPr>
          <p:cNvPr id="16" name="Picture 15" descr="Logo"/>
          <p:cNvPicPr/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41" y="6256475"/>
            <a:ext cx="1230207" cy="5327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roup 16"/>
          <p:cNvGrpSpPr>
            <a:grpSpLocks/>
          </p:cNvGrpSpPr>
          <p:nvPr userDrawn="1"/>
        </p:nvGrpSpPr>
        <p:grpSpPr>
          <a:xfrm>
            <a:off x="2346114" y="6213441"/>
            <a:ext cx="971060" cy="617220"/>
            <a:chOff x="0" y="0"/>
            <a:chExt cx="986167" cy="842434"/>
          </a:xfrm>
        </p:grpSpPr>
        <p:pic>
          <p:nvPicPr>
            <p:cNvPr id="18" name="Picture 17" descr="C:\Users\sebt\AppData\Local\Microsoft\Windows\Temporary Internet Files\Content.Word\logo TU1402 big.png"/>
            <p:cNvPicPr>
              <a:picLocks noChangeAspect="1"/>
            </p:cNvPicPr>
            <p:nvPr userDrawn="1"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9794"/>
            <a:stretch/>
          </p:blipFill>
          <p:spPr bwMode="auto">
            <a:xfrm>
              <a:off x="0" y="0"/>
              <a:ext cx="884766" cy="842434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9" name="Rectangle 18"/>
            <p:cNvSpPr/>
            <p:nvPr userDrawn="1"/>
          </p:nvSpPr>
          <p:spPr>
            <a:xfrm>
              <a:off x="647500" y="575707"/>
              <a:ext cx="338667" cy="252904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800"/>
            </a:p>
          </p:txBody>
        </p:sp>
      </p:grpSp>
      <p:pic>
        <p:nvPicPr>
          <p:cNvPr id="20" name="Picture 19" descr="Macintosh HD:Users:jdgranja:Dropbox:DESIGN:BOUTIK_MARKETING:CLIENTS:TU1406:BRANDING:AP:RGB:VERTICAL:tu1406_logo_cmyk_v.png"/>
          <p:cNvPicPr/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43" r="15562" b="15066"/>
          <a:stretch/>
        </p:blipFill>
        <p:spPr bwMode="auto">
          <a:xfrm>
            <a:off x="-11853" y="6184950"/>
            <a:ext cx="1062567" cy="61150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24" name="Straight Connector 23"/>
          <p:cNvCxnSpPr/>
          <p:nvPr userDrawn="1"/>
        </p:nvCxnSpPr>
        <p:spPr>
          <a:xfrm>
            <a:off x="0" y="6093296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0" y="416754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9" name="Picture 28"/>
          <p:cNvPicPr/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7012" y="6107360"/>
            <a:ext cx="1918547" cy="7245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6483" y="0"/>
            <a:ext cx="10972800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dirty="0" smtClean="0"/>
              <a:t>PRESENTATION TITLE │ JOHN DOE ET 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087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1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3695734" y="6415486"/>
            <a:ext cx="508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sr-Latn-RS"/>
            </a:defPPr>
            <a:lvl1pPr marL="0" algn="ctr" defTabSz="9144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1200" dirty="0" smtClean="0">
                <a:latin typeface="Arial "/>
              </a:rPr>
              <a:t>JOINT WORKSHOP</a:t>
            </a:r>
          </a:p>
          <a:p>
            <a:r>
              <a:rPr lang="hr-HR" sz="1200" dirty="0" smtClean="0">
                <a:latin typeface="Arial "/>
              </a:rPr>
              <a:t>COST</a:t>
            </a:r>
            <a:r>
              <a:rPr lang="hr-HR" sz="1200" baseline="0" dirty="0" smtClean="0">
                <a:latin typeface="Arial "/>
              </a:rPr>
              <a:t> TU1402 – COST TU1406 – IABSE</a:t>
            </a:r>
          </a:p>
          <a:p>
            <a:r>
              <a:rPr lang="hr-HR" sz="1200" b="1" dirty="0" smtClean="0">
                <a:solidFill>
                  <a:schemeClr val="tx1"/>
                </a:solidFill>
                <a:latin typeface="Arial "/>
              </a:rPr>
              <a:t>Zagreb,</a:t>
            </a:r>
            <a:r>
              <a:rPr lang="hr-HR" sz="1200" b="1" baseline="0" dirty="0" smtClean="0">
                <a:solidFill>
                  <a:schemeClr val="tx1"/>
                </a:solidFill>
                <a:latin typeface="Arial "/>
              </a:rPr>
              <a:t> </a:t>
            </a:r>
            <a:r>
              <a:rPr lang="en-US" sz="1200" b="1" dirty="0" smtClean="0">
                <a:solidFill>
                  <a:schemeClr val="tx1"/>
                </a:solidFill>
                <a:latin typeface="Arial "/>
              </a:rPr>
              <a:t>02</a:t>
            </a:r>
            <a:r>
              <a:rPr lang="en-US" sz="1200" b="1" baseline="30000" dirty="0" smtClean="0">
                <a:solidFill>
                  <a:schemeClr val="tx1"/>
                </a:solidFill>
                <a:latin typeface="Arial "/>
              </a:rPr>
              <a:t>nd </a:t>
            </a:r>
            <a:r>
              <a:rPr lang="en-US" sz="1200" b="1" dirty="0" smtClean="0">
                <a:solidFill>
                  <a:schemeClr val="tx1"/>
                </a:solidFill>
                <a:latin typeface="Arial "/>
              </a:rPr>
              <a:t>– 03</a:t>
            </a:r>
            <a:r>
              <a:rPr lang="en-US" sz="1200" b="1" baseline="30000" dirty="0" smtClean="0">
                <a:solidFill>
                  <a:schemeClr val="tx1"/>
                </a:solidFill>
                <a:latin typeface="Arial "/>
              </a:rPr>
              <a:t>rd</a:t>
            </a:r>
            <a:r>
              <a:rPr lang="en-US" sz="1200" b="1" dirty="0" smtClean="0">
                <a:solidFill>
                  <a:schemeClr val="tx1"/>
                </a:solidFill>
                <a:latin typeface="Arial "/>
              </a:rPr>
              <a:t>  March 2017</a:t>
            </a:r>
            <a:r>
              <a:rPr lang="hr-HR" sz="1200" baseline="0" dirty="0" smtClean="0">
                <a:latin typeface="Arial "/>
              </a:rPr>
              <a:t/>
            </a:r>
            <a:br>
              <a:rPr lang="hr-HR" sz="1200" baseline="0" dirty="0" smtClean="0">
                <a:latin typeface="Arial "/>
              </a:rPr>
            </a:br>
            <a:endParaRPr lang="en-US" sz="1200" dirty="0">
              <a:latin typeface="Arial "/>
            </a:endParaRPr>
          </a:p>
        </p:txBody>
      </p:sp>
      <p:pic>
        <p:nvPicPr>
          <p:cNvPr id="9" name="Picture 8" descr="Logo"/>
          <p:cNvPicPr/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41" y="6256475"/>
            <a:ext cx="1230207" cy="5327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roup 9"/>
          <p:cNvGrpSpPr>
            <a:grpSpLocks/>
          </p:cNvGrpSpPr>
          <p:nvPr userDrawn="1"/>
        </p:nvGrpSpPr>
        <p:grpSpPr>
          <a:xfrm>
            <a:off x="2346114" y="6213441"/>
            <a:ext cx="971060" cy="617220"/>
            <a:chOff x="0" y="0"/>
            <a:chExt cx="986167" cy="842434"/>
          </a:xfrm>
        </p:grpSpPr>
        <p:pic>
          <p:nvPicPr>
            <p:cNvPr id="11" name="Picture 10" descr="C:\Users\sebt\AppData\Local\Microsoft\Windows\Temporary Internet Files\Content.Word\logo TU1402 big.png"/>
            <p:cNvPicPr>
              <a:picLocks noChangeAspect="1"/>
            </p:cNvPicPr>
            <p:nvPr userDrawn="1"/>
          </p:nvPicPr>
          <p:blipFill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9794"/>
            <a:stretch/>
          </p:blipFill>
          <p:spPr bwMode="auto">
            <a:xfrm>
              <a:off x="0" y="0"/>
              <a:ext cx="884766" cy="842434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2" name="Rectangle 11"/>
            <p:cNvSpPr/>
            <p:nvPr userDrawn="1"/>
          </p:nvSpPr>
          <p:spPr>
            <a:xfrm>
              <a:off x="647500" y="575707"/>
              <a:ext cx="338667" cy="252904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800"/>
            </a:p>
          </p:txBody>
        </p:sp>
      </p:grpSp>
      <p:pic>
        <p:nvPicPr>
          <p:cNvPr id="13" name="Picture 12" descr="Macintosh HD:Users:jdgranja:Dropbox:DESIGN:BOUTIK_MARKETING:CLIENTS:TU1406:BRANDING:AP:RGB:VERTICAL:tu1406_logo_cmyk_v.png"/>
          <p:cNvPicPr/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43" r="15562" b="15066"/>
          <a:stretch/>
        </p:blipFill>
        <p:spPr bwMode="auto">
          <a:xfrm>
            <a:off x="-11853" y="6184950"/>
            <a:ext cx="1062567" cy="61150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4" name="Straight Connector 13"/>
          <p:cNvCxnSpPr/>
          <p:nvPr userDrawn="1"/>
        </p:nvCxnSpPr>
        <p:spPr>
          <a:xfrm>
            <a:off x="0" y="6093296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0" y="416754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Picture 15"/>
          <p:cNvPicPr/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7012" y="6107360"/>
            <a:ext cx="1918547" cy="7245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9518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686" r:id="rId13"/>
    <p:sldLayoutId id="2147483687" r:id="rId14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0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0.xml"/><Relationship Id="rId4" Type="http://schemas.openxmlformats.org/officeDocument/2006/relationships/chart" Target="../charts/char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7448" y="2492896"/>
            <a:ext cx="9644608" cy="1224136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making: AHP method applied for network bridge prioritization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Arial (headings)"/>
            </a:endParaRPr>
          </a:p>
        </p:txBody>
      </p:sp>
      <p:sp>
        <p:nvSpPr>
          <p:cNvPr id="15" name="Subtitle 5"/>
          <p:cNvSpPr txBox="1">
            <a:spLocks/>
          </p:cNvSpPr>
          <p:nvPr/>
        </p:nvSpPr>
        <p:spPr>
          <a:xfrm>
            <a:off x="3247519" y="3933056"/>
            <a:ext cx="6552728" cy="1440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Zaharah Allah Bukhsh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Irina Stipanovic 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Oslakovic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Twente, Netherlands </a:t>
            </a:r>
            <a:b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Giel Klanker – </a:t>
            </a:r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Rijkswaterstaat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Ministry of Infrastructure, Netherlands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Niels Peter 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Hoj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HOJ consulting, </a:t>
            </a:r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Brunmen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Switzerand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Boulent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Imam –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surrey, United kingdom</a:t>
            </a:r>
          </a:p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Yiannis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Xenidis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Aristotle University of Thessaloniki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Greece </a:t>
            </a:r>
          </a:p>
        </p:txBody>
      </p:sp>
    </p:spTree>
    <p:extLst>
      <p:ext uri="{BB962C8B-B14F-4D97-AF65-F5344CB8AC3E}">
        <p14:creationId xmlns:p14="http://schemas.microsoft.com/office/powerpoint/2010/main" val="349525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67408" y="548680"/>
            <a:ext cx="7290054" cy="1499616"/>
          </a:xfrm>
        </p:spPr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11424" y="1916832"/>
            <a:ext cx="9865096" cy="402336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sz="2400" dirty="0"/>
              <a:t>Bridges are key structure of transport infrastructure networks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Length of bridge is just 2% or whole network but it represent 30% of value (PIARC, 1999)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Ratio of expenses per route km spent on bridge is 10 times more than the average expenses per route km (CEDR, 2010)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Bridge management is exposed with budget constrains and need of improved service quality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In last decade, number of bridge management system and life cycle tools have been developed to facilitate the reliable management of deteriorating assets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899405" y="0"/>
            <a:ext cx="1088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making: AHP method applied for network bridge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– Zaharah et. al.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6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Bridge maintenance planning</a:t>
            </a:r>
            <a:br>
              <a:rPr lang="en-US" dirty="0" smtClean="0"/>
            </a:br>
            <a:r>
              <a:rPr lang="en-US" sz="3200" dirty="0" smtClean="0"/>
              <a:t>Object level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084832"/>
            <a:ext cx="9720073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It is </a:t>
            </a:r>
            <a:r>
              <a:rPr lang="en-US" dirty="0"/>
              <a:t>a process of deciding the scope, timing, costs, and benefits of future maintenance activities </a:t>
            </a:r>
            <a:r>
              <a:rPr lang="en-US" u="sng" dirty="0"/>
              <a:t>on a </a:t>
            </a:r>
            <a:r>
              <a:rPr lang="en-US" u="sng" dirty="0" smtClean="0"/>
              <a:t>specific bridge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722" y="2949287"/>
            <a:ext cx="6686551" cy="2981265"/>
          </a:xfrm>
          <a:prstGeom prst="rect">
            <a:avLst/>
          </a:prstGeom>
        </p:spPr>
      </p:pic>
      <p:sp>
        <p:nvSpPr>
          <p:cNvPr id="16" name="Curved Down Arrow 15"/>
          <p:cNvSpPr/>
          <p:nvPr/>
        </p:nvSpPr>
        <p:spPr>
          <a:xfrm rot="20473028">
            <a:off x="1972265" y="2917877"/>
            <a:ext cx="3554730" cy="76901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268077" y="3325864"/>
            <a:ext cx="2191768" cy="1923288"/>
            <a:chOff x="242822" y="3174492"/>
            <a:chExt cx="3814828" cy="3162300"/>
          </a:xfrm>
        </p:grpSpPr>
        <p:sp>
          <p:nvSpPr>
            <p:cNvPr id="5" name="Oval 4"/>
            <p:cNvSpPr/>
            <p:nvPr/>
          </p:nvSpPr>
          <p:spPr>
            <a:xfrm>
              <a:off x="242822" y="3174492"/>
              <a:ext cx="3814828" cy="31623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706" y="3813048"/>
              <a:ext cx="2505455" cy="1879092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433157" y="5829800"/>
              <a:ext cx="2107242" cy="455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Object level</a:t>
              </a:r>
              <a:endParaRPr lang="en-US" sz="1200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8400256" y="585216"/>
            <a:ext cx="417142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Consider only owner cost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Ignore </a:t>
            </a:r>
            <a:r>
              <a:rPr lang="en-US" sz="2000" u="sng" dirty="0" smtClean="0"/>
              <a:t>environment impact, availability, importance on the transport and overall societal impacts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708910" y="3333330"/>
            <a:ext cx="23317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Life cycle activity of each object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Selection, </a:t>
            </a:r>
            <a:r>
              <a:rPr lang="en-US" dirty="0"/>
              <a:t>b</a:t>
            </a:r>
            <a:r>
              <a:rPr lang="en-US" dirty="0" smtClean="0"/>
              <a:t>udgeting and planning on network level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99405" y="0"/>
            <a:ext cx="1088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making: AHP method applied for network bridge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– Zaharah et. al.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52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96296E-6 L -0.2905 0.00047 " pathEditMode="relative" rAng="0" ptsTypes="AA">
                                      <p:cBhvr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31" y="2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3.7037E-7 L -0.15911 0.00301 " pathEditMode="relative" rAng="0" ptsTypes="AA">
                                      <p:cBhvr>
                                        <p:cTn id="2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56" y="139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1.48148E-6 L -0.20898 -0.00046 " pathEditMode="relative" rAng="0" ptsTypes="AA">
                                      <p:cBhvr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56" y="-2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11111E-6 L -0.43477 0.04699 " pathEditMode="relative" rAng="0" ptsTypes="AA">
                                      <p:cBhvr>
                                        <p:cTn id="2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745" y="2338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96296E-6 L 0.00026 0.3699 " pathEditMode="relative" rAng="0" ptsTypes="AA">
                                      <p:cBhvr>
                                        <p:cTn id="2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8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/>
      <p:bldP spid="17" grpId="1"/>
      <p:bldP spid="18" grpId="0"/>
      <p:bldP spid="1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 maintenance </a:t>
            </a:r>
            <a:r>
              <a:rPr lang="en-US" dirty="0" smtClean="0"/>
              <a:t>planning</a:t>
            </a:r>
            <a:br>
              <a:rPr lang="en-US" dirty="0" smtClean="0"/>
            </a:br>
            <a:r>
              <a:rPr lang="en-US" sz="3200" dirty="0" smtClean="0"/>
              <a:t>Network Level</a:t>
            </a:r>
            <a:endParaRPr lang="en-US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1700808"/>
            <a:ext cx="10284798" cy="4014242"/>
          </a:xfrm>
        </p:spPr>
      </p:pic>
      <p:sp>
        <p:nvSpPr>
          <p:cNvPr id="5" name="TextBox 4"/>
          <p:cNvSpPr txBox="1"/>
          <p:nvPr/>
        </p:nvSpPr>
        <p:spPr>
          <a:xfrm>
            <a:off x="899405" y="0"/>
            <a:ext cx="1088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making: AHP method applied for network bridge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– Zaharah et. al.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41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414" y="2286000"/>
            <a:ext cx="8306376" cy="370348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27613" y="626444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Bridge maintenance planning</a:t>
            </a:r>
            <a:br>
              <a:rPr lang="en-US" dirty="0" smtClean="0"/>
            </a:br>
            <a:r>
              <a:rPr lang="en-US" sz="3200" dirty="0" smtClean="0"/>
              <a:t>Network Level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899405" y="0"/>
            <a:ext cx="1088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making: AHP method applied for network bridge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– Zaharah et. al.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39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96296E-6 L -0.2905 0.00047 " pathEditMode="relative" rAng="0" ptsTypes="AA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31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Multi-criteria decision making</a:t>
            </a:r>
            <a:br>
              <a:rPr lang="en-US" dirty="0" smtClean="0"/>
            </a:br>
            <a:r>
              <a:rPr lang="en-US" sz="3200" dirty="0" smtClean="0"/>
              <a:t>For maintenance planning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6" y="2045985"/>
            <a:ext cx="9720073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sz="2400" dirty="0" smtClean="0"/>
              <a:t>Systematic approach to evaluate multiple conflicting objectives in decision making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smtClean="0"/>
              <a:t>Limited budget vs. aging bridge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smtClean="0"/>
              <a:t>Demands of availability vs. need of maintenance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smtClean="0"/>
              <a:t>Risk of failure vs. criticality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Enable the decision maker to provide preferences when exposed with conflicting objectives</a:t>
            </a:r>
          </a:p>
          <a:p>
            <a:pPr marL="128016" lvl="1" indent="0">
              <a:buNone/>
            </a:pPr>
            <a:r>
              <a:rPr lang="en-US" sz="2000" dirty="0" smtClean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0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2000" dirty="0" smtClean="0"/>
          </a:p>
        </p:txBody>
      </p:sp>
      <p:grpSp>
        <p:nvGrpSpPr>
          <p:cNvPr id="7" name="Group 6"/>
          <p:cNvGrpSpPr/>
          <p:nvPr/>
        </p:nvGrpSpPr>
        <p:grpSpPr>
          <a:xfrm>
            <a:off x="1703512" y="4941168"/>
            <a:ext cx="8123237" cy="899270"/>
            <a:chOff x="1822545" y="5225208"/>
            <a:chExt cx="8123237" cy="1160462"/>
          </a:xfrm>
        </p:grpSpPr>
        <p:sp>
          <p:nvSpPr>
            <p:cNvPr id="8" name="Freeform 7"/>
            <p:cNvSpPr/>
            <p:nvPr/>
          </p:nvSpPr>
          <p:spPr>
            <a:xfrm>
              <a:off x="1822545" y="5225208"/>
              <a:ext cx="2901156" cy="1160462"/>
            </a:xfrm>
            <a:custGeom>
              <a:avLst/>
              <a:gdLst>
                <a:gd name="connsiteX0" fmla="*/ 0 w 2901156"/>
                <a:gd name="connsiteY0" fmla="*/ 0 h 1160462"/>
                <a:gd name="connsiteX1" fmla="*/ 2320925 w 2901156"/>
                <a:gd name="connsiteY1" fmla="*/ 0 h 1160462"/>
                <a:gd name="connsiteX2" fmla="*/ 2901156 w 2901156"/>
                <a:gd name="connsiteY2" fmla="*/ 580231 h 1160462"/>
                <a:gd name="connsiteX3" fmla="*/ 2320925 w 2901156"/>
                <a:gd name="connsiteY3" fmla="*/ 1160462 h 1160462"/>
                <a:gd name="connsiteX4" fmla="*/ 0 w 2901156"/>
                <a:gd name="connsiteY4" fmla="*/ 1160462 h 1160462"/>
                <a:gd name="connsiteX5" fmla="*/ 580231 w 2901156"/>
                <a:gd name="connsiteY5" fmla="*/ 580231 h 1160462"/>
                <a:gd name="connsiteX6" fmla="*/ 0 w 2901156"/>
                <a:gd name="connsiteY6" fmla="*/ 0 h 1160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01156" h="1160462">
                  <a:moveTo>
                    <a:pt x="0" y="0"/>
                  </a:moveTo>
                  <a:lnTo>
                    <a:pt x="2320925" y="0"/>
                  </a:lnTo>
                  <a:lnTo>
                    <a:pt x="2901156" y="580231"/>
                  </a:lnTo>
                  <a:lnTo>
                    <a:pt x="2320925" y="1160462"/>
                  </a:lnTo>
                  <a:lnTo>
                    <a:pt x="0" y="1160462"/>
                  </a:lnTo>
                  <a:lnTo>
                    <a:pt x="580231" y="5802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8242" tIns="29337" rIns="609568" bIns="29337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200" kern="1200" dirty="0" smtClean="0"/>
                <a:t>Weighting</a:t>
              </a:r>
              <a:endParaRPr lang="en-US" sz="2200" kern="1200" dirty="0"/>
            </a:p>
          </p:txBody>
        </p:sp>
        <p:sp>
          <p:nvSpPr>
            <p:cNvPr id="9" name="Freeform 8"/>
            <p:cNvSpPr/>
            <p:nvPr/>
          </p:nvSpPr>
          <p:spPr>
            <a:xfrm>
              <a:off x="4433585" y="5225208"/>
              <a:ext cx="2901156" cy="1160462"/>
            </a:xfrm>
            <a:custGeom>
              <a:avLst/>
              <a:gdLst>
                <a:gd name="connsiteX0" fmla="*/ 0 w 2901156"/>
                <a:gd name="connsiteY0" fmla="*/ 0 h 1160462"/>
                <a:gd name="connsiteX1" fmla="*/ 2320925 w 2901156"/>
                <a:gd name="connsiteY1" fmla="*/ 0 h 1160462"/>
                <a:gd name="connsiteX2" fmla="*/ 2901156 w 2901156"/>
                <a:gd name="connsiteY2" fmla="*/ 580231 h 1160462"/>
                <a:gd name="connsiteX3" fmla="*/ 2320925 w 2901156"/>
                <a:gd name="connsiteY3" fmla="*/ 1160462 h 1160462"/>
                <a:gd name="connsiteX4" fmla="*/ 0 w 2901156"/>
                <a:gd name="connsiteY4" fmla="*/ 1160462 h 1160462"/>
                <a:gd name="connsiteX5" fmla="*/ 580231 w 2901156"/>
                <a:gd name="connsiteY5" fmla="*/ 580231 h 1160462"/>
                <a:gd name="connsiteX6" fmla="*/ 0 w 2901156"/>
                <a:gd name="connsiteY6" fmla="*/ 0 h 1160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01156" h="1160462">
                  <a:moveTo>
                    <a:pt x="0" y="0"/>
                  </a:moveTo>
                  <a:lnTo>
                    <a:pt x="2320925" y="0"/>
                  </a:lnTo>
                  <a:lnTo>
                    <a:pt x="2901156" y="580231"/>
                  </a:lnTo>
                  <a:lnTo>
                    <a:pt x="2320925" y="1160462"/>
                  </a:lnTo>
                  <a:lnTo>
                    <a:pt x="0" y="1160462"/>
                  </a:lnTo>
                  <a:lnTo>
                    <a:pt x="580231" y="5802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8242" tIns="29337" rIns="609568" bIns="29337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200" kern="1200" dirty="0" smtClean="0"/>
                <a:t>Scaling</a:t>
              </a:r>
              <a:endParaRPr lang="en-US" sz="2200" kern="1200" dirty="0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044626" y="5225208"/>
              <a:ext cx="2901156" cy="1160462"/>
            </a:xfrm>
            <a:custGeom>
              <a:avLst/>
              <a:gdLst>
                <a:gd name="connsiteX0" fmla="*/ 0 w 2901156"/>
                <a:gd name="connsiteY0" fmla="*/ 0 h 1160462"/>
                <a:gd name="connsiteX1" fmla="*/ 2320925 w 2901156"/>
                <a:gd name="connsiteY1" fmla="*/ 0 h 1160462"/>
                <a:gd name="connsiteX2" fmla="*/ 2901156 w 2901156"/>
                <a:gd name="connsiteY2" fmla="*/ 580231 h 1160462"/>
                <a:gd name="connsiteX3" fmla="*/ 2320925 w 2901156"/>
                <a:gd name="connsiteY3" fmla="*/ 1160462 h 1160462"/>
                <a:gd name="connsiteX4" fmla="*/ 0 w 2901156"/>
                <a:gd name="connsiteY4" fmla="*/ 1160462 h 1160462"/>
                <a:gd name="connsiteX5" fmla="*/ 580231 w 2901156"/>
                <a:gd name="connsiteY5" fmla="*/ 580231 h 1160462"/>
                <a:gd name="connsiteX6" fmla="*/ 0 w 2901156"/>
                <a:gd name="connsiteY6" fmla="*/ 0 h 1160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01156" h="1160462">
                  <a:moveTo>
                    <a:pt x="0" y="0"/>
                  </a:moveTo>
                  <a:lnTo>
                    <a:pt x="2320925" y="0"/>
                  </a:lnTo>
                  <a:lnTo>
                    <a:pt x="2901156" y="580231"/>
                  </a:lnTo>
                  <a:lnTo>
                    <a:pt x="2320925" y="1160462"/>
                  </a:lnTo>
                  <a:lnTo>
                    <a:pt x="0" y="1160462"/>
                  </a:lnTo>
                  <a:lnTo>
                    <a:pt x="580231" y="5802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8242" tIns="29337" rIns="609568" bIns="29337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200" kern="1200" dirty="0" smtClean="0"/>
                <a:t>Amalgamation</a:t>
              </a:r>
              <a:endParaRPr lang="en-US" sz="2200" kern="1200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899405" y="0"/>
            <a:ext cx="1088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making: AHP method applied for network bridge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– Zaharah et. al.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0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189218429"/>
              </p:ext>
            </p:extLst>
          </p:nvPr>
        </p:nvGraphicFramePr>
        <p:xfrm>
          <a:off x="23376" y="2237232"/>
          <a:ext cx="4323857" cy="3733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ight Brace 2"/>
          <p:cNvSpPr/>
          <p:nvPr/>
        </p:nvSpPr>
        <p:spPr>
          <a:xfrm>
            <a:off x="3660464" y="3192471"/>
            <a:ext cx="216024" cy="8640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933821" y="3204906"/>
            <a:ext cx="60287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Pairwise comparison of decision criteria based on</a:t>
            </a:r>
          </a:p>
          <a:p>
            <a:r>
              <a:rPr lang="en-US" sz="2200" dirty="0" smtClean="0"/>
              <a:t>fundamental scale (</a:t>
            </a:r>
            <a:r>
              <a:rPr lang="en-US" sz="2200" dirty="0" err="1" smtClean="0"/>
              <a:t>Saaty</a:t>
            </a:r>
            <a:r>
              <a:rPr lang="en-US" sz="2200" dirty="0" smtClean="0"/>
              <a:t>, 1999).   </a:t>
            </a:r>
            <a:endParaRPr lang="en-US" sz="2200" dirty="0"/>
          </a:p>
        </p:txBody>
      </p:sp>
      <p:sp>
        <p:nvSpPr>
          <p:cNvPr id="7" name="Right Brace 6"/>
          <p:cNvSpPr/>
          <p:nvPr/>
        </p:nvSpPr>
        <p:spPr>
          <a:xfrm>
            <a:off x="3647728" y="4241866"/>
            <a:ext cx="216024" cy="7699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33821" y="4173408"/>
            <a:ext cx="726955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Normalization of each column into value function from 0 to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Calculate the eigenvector by </a:t>
            </a:r>
            <a:r>
              <a:rPr lang="en-US" sz="2200" dirty="0" err="1" smtClean="0"/>
              <a:t>Geomean</a:t>
            </a:r>
            <a:endParaRPr lang="en-US" sz="2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11" name="Right Brace 10"/>
          <p:cNvSpPr/>
          <p:nvPr/>
        </p:nvSpPr>
        <p:spPr>
          <a:xfrm>
            <a:off x="3618106" y="5197105"/>
            <a:ext cx="245645" cy="82003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933820" y="5373216"/>
            <a:ext cx="2954655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Present the final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911424" y="552317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Multi-criteria decision making</a:t>
            </a:r>
            <a:br>
              <a:rPr lang="en-US" dirty="0" smtClean="0"/>
            </a:br>
            <a:r>
              <a:rPr lang="en-US" sz="3200" dirty="0" smtClean="0"/>
              <a:t>Analytical Hierarchy Process</a:t>
            </a:r>
            <a:endParaRPr lang="en-US" sz="3200" dirty="0"/>
          </a:p>
        </p:txBody>
      </p:sp>
      <p:sp>
        <p:nvSpPr>
          <p:cNvPr id="14" name="Right Brace 13"/>
          <p:cNvSpPr/>
          <p:nvPr/>
        </p:nvSpPr>
        <p:spPr>
          <a:xfrm>
            <a:off x="3647728" y="2087334"/>
            <a:ext cx="216024" cy="8640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871785" y="2219659"/>
            <a:ext cx="65164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Define the decision problems and the relative criteria</a:t>
            </a:r>
            <a:endParaRPr lang="en-US" sz="2200" dirty="0"/>
          </a:p>
        </p:txBody>
      </p:sp>
      <p:sp>
        <p:nvSpPr>
          <p:cNvPr id="16" name="TextBox 15"/>
          <p:cNvSpPr txBox="1"/>
          <p:nvPr/>
        </p:nvSpPr>
        <p:spPr>
          <a:xfrm>
            <a:off x="899405" y="0"/>
            <a:ext cx="1088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making: AHP method applied for network bridge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– Zaharah et. al.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36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Analytical Hierarchy </a:t>
            </a:r>
            <a:r>
              <a:rPr lang="en-US" sz="5400" dirty="0" smtClean="0"/>
              <a:t>Process</a:t>
            </a:r>
            <a:br>
              <a:rPr lang="en-US" sz="5400" dirty="0" smtClean="0"/>
            </a:br>
            <a:r>
              <a:rPr lang="en-US" sz="3200" dirty="0" smtClean="0"/>
              <a:t>Illustrative example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6364" y="1909600"/>
            <a:ext cx="9720073" cy="11591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 smtClean="0"/>
              <a:t>Objectives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Minimize the maintenance cost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Minimize the downtime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728" y="3048031"/>
            <a:ext cx="8265670" cy="30251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9416" y="3068740"/>
            <a:ext cx="2197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Performance indicator</a:t>
            </a:r>
            <a:endParaRPr lang="en-US" dirty="0"/>
          </a:p>
        </p:txBody>
      </p:sp>
      <p:sp>
        <p:nvSpPr>
          <p:cNvPr id="6" name="Striped Right Arrow 5"/>
          <p:cNvSpPr/>
          <p:nvPr/>
        </p:nvSpPr>
        <p:spPr>
          <a:xfrm>
            <a:off x="3036428" y="3114888"/>
            <a:ext cx="443346" cy="343871"/>
          </a:xfrm>
          <a:prstGeom prst="stripedRightArrow">
            <a:avLst>
              <a:gd name="adj1" fmla="val 50000"/>
              <a:gd name="adj2" fmla="val 419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937922" y="3590845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Criteria</a:t>
            </a:r>
            <a:endParaRPr lang="en-US" dirty="0"/>
          </a:p>
        </p:txBody>
      </p:sp>
      <p:sp>
        <p:nvSpPr>
          <p:cNvPr id="8" name="Striped Right Arrow 7"/>
          <p:cNvSpPr/>
          <p:nvPr/>
        </p:nvSpPr>
        <p:spPr>
          <a:xfrm>
            <a:off x="3018647" y="3611532"/>
            <a:ext cx="443346" cy="343871"/>
          </a:xfrm>
          <a:prstGeom prst="stripedRightArrow">
            <a:avLst>
              <a:gd name="adj1" fmla="val 50000"/>
              <a:gd name="adj2" fmla="val 419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triped Right Arrow 8"/>
          <p:cNvSpPr/>
          <p:nvPr/>
        </p:nvSpPr>
        <p:spPr>
          <a:xfrm>
            <a:off x="3036428" y="4099255"/>
            <a:ext cx="443346" cy="343871"/>
          </a:xfrm>
          <a:prstGeom prst="stripedRightArrow">
            <a:avLst>
              <a:gd name="adj1" fmla="val 50000"/>
              <a:gd name="adj2" fmla="val 419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081532" y="4073794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Scale</a:t>
            </a:r>
            <a:endParaRPr lang="en-US" dirty="0"/>
          </a:p>
        </p:txBody>
      </p:sp>
      <p:sp>
        <p:nvSpPr>
          <p:cNvPr id="11" name="Striped Right Arrow 10"/>
          <p:cNvSpPr/>
          <p:nvPr/>
        </p:nvSpPr>
        <p:spPr>
          <a:xfrm>
            <a:off x="2724038" y="4595899"/>
            <a:ext cx="841791" cy="1431723"/>
          </a:xfrm>
          <a:prstGeom prst="stripedRightArrow">
            <a:avLst>
              <a:gd name="adj1" fmla="val 50000"/>
              <a:gd name="adj2" fmla="val 238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406711" y="5018205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Alternatives</a:t>
            </a:r>
            <a:endParaRPr lang="en-US" dirty="0"/>
          </a:p>
        </p:txBody>
      </p:sp>
      <p:sp>
        <p:nvSpPr>
          <p:cNvPr id="13" name="Pentagon 12"/>
          <p:cNvSpPr/>
          <p:nvPr/>
        </p:nvSpPr>
        <p:spPr>
          <a:xfrm flipH="1">
            <a:off x="9411133" y="442484"/>
            <a:ext cx="2780867" cy="59574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objective and identify </a:t>
            </a:r>
            <a:r>
              <a:rPr lang="en-US" dirty="0" smtClean="0"/>
              <a:t>criteria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99405" y="0"/>
            <a:ext cx="1088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making: AHP method applied for network bridge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– Zaharah et. al.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76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  <p:bldP spid="9" grpId="0" animBg="1"/>
      <p:bldP spid="10" grpId="0"/>
      <p:bldP spid="11" grpId="0" animBg="1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698500" y="3128232"/>
          <a:ext cx="7378700" cy="2579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2115">
                  <a:extLst>
                    <a:ext uri="{9D8B030D-6E8A-4147-A177-3AD203B41FA5}">
                      <a16:colId xmlns:a16="http://schemas.microsoft.com/office/drawing/2014/main" val="808227226"/>
                    </a:ext>
                  </a:extLst>
                </a:gridCol>
                <a:gridCol w="1634175">
                  <a:extLst>
                    <a:ext uri="{9D8B030D-6E8A-4147-A177-3AD203B41FA5}">
                      <a16:colId xmlns:a16="http://schemas.microsoft.com/office/drawing/2014/main" val="1245327492"/>
                    </a:ext>
                  </a:extLst>
                </a:gridCol>
                <a:gridCol w="1121005">
                  <a:extLst>
                    <a:ext uri="{9D8B030D-6E8A-4147-A177-3AD203B41FA5}">
                      <a16:colId xmlns:a16="http://schemas.microsoft.com/office/drawing/2014/main" val="695109146"/>
                    </a:ext>
                  </a:extLst>
                </a:gridCol>
                <a:gridCol w="2411405">
                  <a:extLst>
                    <a:ext uri="{9D8B030D-6E8A-4147-A177-3AD203B41FA5}">
                      <a16:colId xmlns:a16="http://schemas.microsoft.com/office/drawing/2014/main" val="3115076448"/>
                    </a:ext>
                  </a:extLst>
                </a:gridCol>
              </a:tblGrid>
              <a:tr h="34777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Criteria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 smtClean="0">
                          <a:effectLst/>
                        </a:rPr>
                        <a:t>Important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Intensity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593740"/>
                  </a:ext>
                </a:extLst>
              </a:tr>
              <a:tr h="3477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A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B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060078"/>
                  </a:ext>
                </a:extLst>
              </a:tr>
              <a:tr h="31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Maintenance cost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Downtime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1: Equal importance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776567"/>
                  </a:ext>
                </a:extLst>
              </a:tr>
              <a:tr h="31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Maintenance cost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Reliability level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3: Moderate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920221"/>
                  </a:ext>
                </a:extLst>
              </a:tr>
              <a:tr h="31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Maintenance cost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Traffic Intensity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5: strong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132163"/>
                  </a:ext>
                </a:extLst>
              </a:tr>
              <a:tr h="31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Downtime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Reliability level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3: strong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921890"/>
                  </a:ext>
                </a:extLst>
              </a:tr>
              <a:tr h="31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Downtime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Traffic Intensity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3: Equal importance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854529"/>
                  </a:ext>
                </a:extLst>
              </a:tr>
              <a:tr h="3140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Reliability level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Traffic Intensity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smtClean="0">
                          <a:effectLst/>
                        </a:rPr>
                        <a:t>7: Very </a:t>
                      </a:r>
                      <a:r>
                        <a:rPr lang="en-US" sz="1800" u="none" strike="noStrike" dirty="0">
                          <a:effectLst/>
                        </a:rPr>
                        <a:t>strong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96018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8306542" y="3200400"/>
          <a:ext cx="3610745" cy="2380616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1269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431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Fundamental Scale for Pairwise Comparisons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Intensity of Importance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Definition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8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Equal Importance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8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Moderate importance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8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Strong importance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8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7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Very Strong importance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8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9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Extreme importance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63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Intensities of 2, 4, 6, and 8 can be used to express intermediate values.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Pentagon 6"/>
          <p:cNvSpPr/>
          <p:nvPr/>
        </p:nvSpPr>
        <p:spPr>
          <a:xfrm flipH="1">
            <a:off x="9411133" y="442484"/>
            <a:ext cx="2780867" cy="59574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dirty="0"/>
              <a:t>Comparison of decision criteria (Experts’ </a:t>
            </a:r>
            <a:r>
              <a:rPr lang="en-US" dirty="0" smtClean="0"/>
              <a:t>judgment)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 smtClean="0"/>
              <a:t>Analytical Hierarchy Process</a:t>
            </a:r>
            <a:br>
              <a:rPr lang="en-US" dirty="0" smtClean="0"/>
            </a:br>
            <a:r>
              <a:rPr lang="en-US" sz="3200" dirty="0" smtClean="0"/>
              <a:t>Preference structure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899405" y="0"/>
            <a:ext cx="1088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making: AHP method applied for network bridge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– Zaharah et. al.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59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Hierarchy Process</a:t>
            </a:r>
            <a:br>
              <a:rPr lang="en-US" dirty="0"/>
            </a:br>
            <a:r>
              <a:rPr lang="en-US" sz="3200" dirty="0" smtClean="0"/>
              <a:t>Matrix normalization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Create the comparison matrix from the preference structure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/>
              <a:t>Reduce the matrix from 0 to 1 by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Calculate the final Eigen vector from the preferences of each alternative by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dirty="0" smtClean="0"/>
          </a:p>
        </p:txBody>
      </p:sp>
      <p:sp>
        <p:nvSpPr>
          <p:cNvPr id="4" name="Pentagon 3"/>
          <p:cNvSpPr/>
          <p:nvPr/>
        </p:nvSpPr>
        <p:spPr>
          <a:xfrm flipH="1">
            <a:off x="9411133" y="442484"/>
            <a:ext cx="2780867" cy="59574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dirty="0"/>
              <a:t>Comparison of decision criteria (Experts’ </a:t>
            </a:r>
            <a:r>
              <a:rPr lang="en-US" dirty="0" smtClean="0"/>
              <a:t>judgment)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129" y="3157565"/>
            <a:ext cx="3168320" cy="11401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272" y="4864759"/>
            <a:ext cx="2976757" cy="10153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164" y="4772894"/>
            <a:ext cx="2646570" cy="11990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9405" y="0"/>
            <a:ext cx="1088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making: AHP method applied for network bridge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– Zaharah et. al.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94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847651" y="861536"/>
          <a:ext cx="8213223" cy="2102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619">
                  <a:extLst>
                    <a:ext uri="{9D8B030D-6E8A-4147-A177-3AD203B41FA5}">
                      <a16:colId xmlns:a16="http://schemas.microsoft.com/office/drawing/2014/main" val="3258674855"/>
                    </a:ext>
                  </a:extLst>
                </a:gridCol>
                <a:gridCol w="1270669">
                  <a:extLst>
                    <a:ext uri="{9D8B030D-6E8A-4147-A177-3AD203B41FA5}">
                      <a16:colId xmlns:a16="http://schemas.microsoft.com/office/drawing/2014/main" val="2584880937"/>
                    </a:ext>
                  </a:extLst>
                </a:gridCol>
                <a:gridCol w="1642645">
                  <a:extLst>
                    <a:ext uri="{9D8B030D-6E8A-4147-A177-3AD203B41FA5}">
                      <a16:colId xmlns:a16="http://schemas.microsoft.com/office/drawing/2014/main" val="1983020627"/>
                    </a:ext>
                  </a:extLst>
                </a:gridCol>
                <a:gridCol w="1642645">
                  <a:extLst>
                    <a:ext uri="{9D8B030D-6E8A-4147-A177-3AD203B41FA5}">
                      <a16:colId xmlns:a16="http://schemas.microsoft.com/office/drawing/2014/main" val="1241053061"/>
                    </a:ext>
                  </a:extLst>
                </a:gridCol>
                <a:gridCol w="1642645">
                  <a:extLst>
                    <a:ext uri="{9D8B030D-6E8A-4147-A177-3AD203B41FA5}">
                      <a16:colId xmlns:a16="http://schemas.microsoft.com/office/drawing/2014/main" val="3589613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Comparison among criteria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Maintenance cost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Downtime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Reliability level</a:t>
                      </a:r>
                      <a:b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Traffic Intensity</a:t>
                      </a:r>
                      <a:b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427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Maintenance cost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6128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Downtime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4470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Reliability level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010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Traffic Intensity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0510707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54" y="3812320"/>
            <a:ext cx="3168320" cy="11401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4554" y="3317445"/>
            <a:ext cx="2365071" cy="4001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 smtClean="0"/>
              <a:t>Matrix Normalization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847651" y="366661"/>
            <a:ext cx="2325040" cy="4001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 smtClean="0"/>
              <a:t>Comparison Matrix</a:t>
            </a:r>
            <a:endParaRPr lang="en-US" sz="2000" dirty="0"/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7768059"/>
              </p:ext>
            </p:extLst>
          </p:nvPr>
        </p:nvGraphicFramePr>
        <p:xfrm>
          <a:off x="3942875" y="3343775"/>
          <a:ext cx="7985773" cy="2407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5093">
                  <a:extLst>
                    <a:ext uri="{9D8B030D-6E8A-4147-A177-3AD203B41FA5}">
                      <a16:colId xmlns:a16="http://schemas.microsoft.com/office/drawing/2014/main" val="3258674855"/>
                    </a:ext>
                  </a:extLst>
                </a:gridCol>
                <a:gridCol w="1329215">
                  <a:extLst>
                    <a:ext uri="{9D8B030D-6E8A-4147-A177-3AD203B41FA5}">
                      <a16:colId xmlns:a16="http://schemas.microsoft.com/office/drawing/2014/main" val="2584880937"/>
                    </a:ext>
                  </a:extLst>
                </a:gridCol>
                <a:gridCol w="1597155">
                  <a:extLst>
                    <a:ext uri="{9D8B030D-6E8A-4147-A177-3AD203B41FA5}">
                      <a16:colId xmlns:a16="http://schemas.microsoft.com/office/drawing/2014/main" val="1983020627"/>
                    </a:ext>
                  </a:extLst>
                </a:gridCol>
                <a:gridCol w="1597155">
                  <a:extLst>
                    <a:ext uri="{9D8B030D-6E8A-4147-A177-3AD203B41FA5}">
                      <a16:colId xmlns:a16="http://schemas.microsoft.com/office/drawing/2014/main" val="1241053061"/>
                    </a:ext>
                  </a:extLst>
                </a:gridCol>
                <a:gridCol w="1597155">
                  <a:extLst>
                    <a:ext uri="{9D8B030D-6E8A-4147-A177-3AD203B41FA5}">
                      <a16:colId xmlns:a16="http://schemas.microsoft.com/office/drawing/2014/main" val="3589613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Normalized</a:t>
                      </a:r>
                      <a:r>
                        <a:rPr lang="en-US" sz="20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matrix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Maintenance cost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Downtime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Reliability level</a:t>
                      </a:r>
                      <a:b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Traffic Intensity</a:t>
                      </a:r>
                      <a:b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427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Maintenance cost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6128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Downtime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4470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Reliability level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010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Traffic Intensity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0510707"/>
                  </a:ext>
                </a:extLst>
              </a:tr>
            </a:tbl>
          </a:graphicData>
        </a:graphic>
      </p:graphicFrame>
      <p:sp>
        <p:nvSpPr>
          <p:cNvPr id="10" name="Pentagon 9"/>
          <p:cNvSpPr/>
          <p:nvPr/>
        </p:nvSpPr>
        <p:spPr>
          <a:xfrm flipH="1">
            <a:off x="9411133" y="442484"/>
            <a:ext cx="2780867" cy="59574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dirty="0"/>
              <a:t>Comparison of decision criteria (Experts’ </a:t>
            </a:r>
            <a:r>
              <a:rPr lang="en-US" dirty="0" smtClean="0"/>
              <a:t>judgment)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9405" y="0"/>
            <a:ext cx="1088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making: AHP method applied for network bridge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– Zaharah et. al.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18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9199418" y="2377696"/>
            <a:ext cx="1373189" cy="24021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5E0B-4893-4E8F-B321-7C7F403B5DC3}" type="slidenum">
              <a:rPr lang="en-IE" smtClean="0"/>
              <a:t>12</a:t>
            </a:fld>
            <a:endParaRPr lang="en-IE"/>
          </a:p>
        </p:txBody>
      </p:sp>
      <p:sp>
        <p:nvSpPr>
          <p:cNvPr id="10" name="TextBox 9"/>
          <p:cNvSpPr txBox="1"/>
          <p:nvPr/>
        </p:nvSpPr>
        <p:spPr>
          <a:xfrm>
            <a:off x="510082" y="1977586"/>
            <a:ext cx="2391360" cy="4001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 smtClean="0"/>
              <a:t>Calculate eigenvector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144" y="462405"/>
            <a:ext cx="2976757" cy="10153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357" y="462405"/>
            <a:ext cx="2646570" cy="1199058"/>
          </a:xfrm>
          <a:prstGeom prst="rect">
            <a:avLst/>
          </a:prstGeom>
        </p:spPr>
      </p:pic>
      <p:sp>
        <p:nvSpPr>
          <p:cNvPr id="11" name="Pentagon 10"/>
          <p:cNvSpPr/>
          <p:nvPr/>
        </p:nvSpPr>
        <p:spPr>
          <a:xfrm flipH="1">
            <a:off x="9411133" y="442484"/>
            <a:ext cx="2780867" cy="59574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dirty="0"/>
              <a:t>Comparison of decision criteria (Experts’ </a:t>
            </a:r>
            <a:r>
              <a:rPr lang="en-US" dirty="0" smtClean="0"/>
              <a:t>judgment)</a:t>
            </a:r>
            <a:endParaRPr lang="en-US" dirty="0"/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/>
          </p:nvPr>
        </p:nvGraphicFramePr>
        <p:xfrm>
          <a:off x="510082" y="2528989"/>
          <a:ext cx="8507638" cy="2102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836">
                  <a:extLst>
                    <a:ext uri="{9D8B030D-6E8A-4147-A177-3AD203B41FA5}">
                      <a16:colId xmlns:a16="http://schemas.microsoft.com/office/drawing/2014/main" val="3258674855"/>
                    </a:ext>
                  </a:extLst>
                </a:gridCol>
                <a:gridCol w="1316218">
                  <a:extLst>
                    <a:ext uri="{9D8B030D-6E8A-4147-A177-3AD203B41FA5}">
                      <a16:colId xmlns:a16="http://schemas.microsoft.com/office/drawing/2014/main" val="2584880937"/>
                    </a:ext>
                  </a:extLst>
                </a:gridCol>
                <a:gridCol w="1701528">
                  <a:extLst>
                    <a:ext uri="{9D8B030D-6E8A-4147-A177-3AD203B41FA5}">
                      <a16:colId xmlns:a16="http://schemas.microsoft.com/office/drawing/2014/main" val="1983020627"/>
                    </a:ext>
                  </a:extLst>
                </a:gridCol>
                <a:gridCol w="1701528">
                  <a:extLst>
                    <a:ext uri="{9D8B030D-6E8A-4147-A177-3AD203B41FA5}">
                      <a16:colId xmlns:a16="http://schemas.microsoft.com/office/drawing/2014/main" val="1241053061"/>
                    </a:ext>
                  </a:extLst>
                </a:gridCol>
                <a:gridCol w="1701528">
                  <a:extLst>
                    <a:ext uri="{9D8B030D-6E8A-4147-A177-3AD203B41FA5}">
                      <a16:colId xmlns:a16="http://schemas.microsoft.com/office/drawing/2014/main" val="3589613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Normalized</a:t>
                      </a:r>
                      <a:r>
                        <a:rPr lang="en-US" sz="20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matrix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Maintenance cost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Downtime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Reliability level</a:t>
                      </a:r>
                      <a:b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Traffic Intensity</a:t>
                      </a:r>
                      <a:b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427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Maintenance cost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6128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Downtime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4470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Reliability level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010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Traffic Intensity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05107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9411133" y="2528989"/>
          <a:ext cx="1016000" cy="2102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538036249"/>
                    </a:ext>
                  </a:extLst>
                </a:gridCol>
              </a:tblGrid>
              <a:tr h="554255">
                <a:tc>
                  <a:txBody>
                    <a:bodyPr/>
                    <a:lstStyle/>
                    <a:p>
                      <a:r>
                        <a:rPr lang="en-US" b="0" i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Scores</a:t>
                      </a:r>
                      <a:endParaRPr lang="en-US" b="0" i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452648"/>
                  </a:ext>
                </a:extLst>
              </a:tr>
              <a:tr h="3870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41141159"/>
                  </a:ext>
                </a:extLst>
              </a:tr>
              <a:tr h="3870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9641906"/>
                  </a:ext>
                </a:extLst>
              </a:tr>
              <a:tr h="3870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03122180"/>
                  </a:ext>
                </a:extLst>
              </a:tr>
              <a:tr h="3870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616201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99405" y="0"/>
            <a:ext cx="1088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making: AHP method applied for network bridge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– Zaharah et. al.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247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023938" y="2286000"/>
          <a:ext cx="6125008" cy="2412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835">
                  <a:extLst>
                    <a:ext uri="{9D8B030D-6E8A-4147-A177-3AD203B41FA5}">
                      <a16:colId xmlns:a16="http://schemas.microsoft.com/office/drawing/2014/main" val="381908569"/>
                    </a:ext>
                  </a:extLst>
                </a:gridCol>
                <a:gridCol w="1308027">
                  <a:extLst>
                    <a:ext uri="{9D8B030D-6E8A-4147-A177-3AD203B41FA5}">
                      <a16:colId xmlns:a16="http://schemas.microsoft.com/office/drawing/2014/main" val="880449484"/>
                    </a:ext>
                  </a:extLst>
                </a:gridCol>
                <a:gridCol w="1136073">
                  <a:extLst>
                    <a:ext uri="{9D8B030D-6E8A-4147-A177-3AD203B41FA5}">
                      <a16:colId xmlns:a16="http://schemas.microsoft.com/office/drawing/2014/main" val="2118084192"/>
                    </a:ext>
                  </a:extLst>
                </a:gridCol>
                <a:gridCol w="1233054">
                  <a:extLst>
                    <a:ext uri="{9D8B030D-6E8A-4147-A177-3AD203B41FA5}">
                      <a16:colId xmlns:a16="http://schemas.microsoft.com/office/drawing/2014/main" val="3275507503"/>
                    </a:ext>
                  </a:extLst>
                </a:gridCol>
                <a:gridCol w="1427019">
                  <a:extLst>
                    <a:ext uri="{9D8B030D-6E8A-4147-A177-3AD203B41FA5}">
                      <a16:colId xmlns:a16="http://schemas.microsoft.com/office/drawing/2014/main" val="839355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Maintenance cost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Downtime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Reliability level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Traffic Intensity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544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1" u="none" strike="noStrike">
                          <a:solidFill>
                            <a:srgbClr val="3F3F3F"/>
                          </a:solidFill>
                          <a:effectLst/>
                          <a:latin typeface="+mn-lt"/>
                        </a:rPr>
                        <a:t>A: B101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70176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1" u="none" strike="noStrike">
                          <a:solidFill>
                            <a:srgbClr val="3F3F3F"/>
                          </a:solidFill>
                          <a:effectLst/>
                          <a:latin typeface="+mn-lt"/>
                        </a:rPr>
                        <a:t>B: B109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42748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1" u="none" strike="noStrike">
                          <a:solidFill>
                            <a:srgbClr val="3F3F3F"/>
                          </a:solidFill>
                          <a:effectLst/>
                          <a:latin typeface="+mn-lt"/>
                        </a:rPr>
                        <a:t>C: B207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9630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1" u="none" strike="noStrike">
                          <a:solidFill>
                            <a:srgbClr val="3F3F3F"/>
                          </a:solidFill>
                          <a:effectLst/>
                          <a:latin typeface="+mn-lt"/>
                        </a:rPr>
                        <a:t>D: B307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36869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1" u="none" strike="noStrike" dirty="0">
                          <a:solidFill>
                            <a:srgbClr val="3F3F3F"/>
                          </a:solidFill>
                          <a:effectLst/>
                          <a:latin typeface="+mn-lt"/>
                        </a:rPr>
                        <a:t>E: B150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83842139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983432" y="69685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Analytical Hierarchy Process</a:t>
            </a:r>
            <a:br>
              <a:rPr lang="en-US" dirty="0" smtClean="0"/>
            </a:br>
            <a:r>
              <a:rPr lang="en-US" sz="3200" dirty="0" smtClean="0"/>
              <a:t>Matrix normalization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7402225" y="2438555"/>
          <a:ext cx="1016000" cy="2204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538036249"/>
                    </a:ext>
                  </a:extLst>
                </a:gridCol>
              </a:tblGrid>
              <a:tr h="581891">
                <a:tc>
                  <a:txBody>
                    <a:bodyPr/>
                    <a:lstStyle/>
                    <a:p>
                      <a:r>
                        <a:rPr lang="en-US" b="0" i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Scores</a:t>
                      </a:r>
                      <a:endParaRPr lang="en-US" b="0" i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452648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41141159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9641906"/>
                  </a:ext>
                </a:extLst>
              </a:tr>
              <a:tr h="4441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03122180"/>
                  </a:ext>
                </a:extLst>
              </a:tr>
              <a:tr h="4441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6162015"/>
                  </a:ext>
                </a:extLst>
              </a:tr>
            </a:tbl>
          </a:graphicData>
        </a:graphic>
      </p:graphicFrame>
      <p:sp>
        <p:nvSpPr>
          <p:cNvPr id="7" name="Left Brace 6"/>
          <p:cNvSpPr/>
          <p:nvPr/>
        </p:nvSpPr>
        <p:spPr>
          <a:xfrm rot="16200000">
            <a:off x="4542039" y="1037305"/>
            <a:ext cx="576064" cy="789818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508235" y="5246594"/>
            <a:ext cx="2643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Matrix Multiplication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9180224" y="2196469"/>
          <a:ext cx="1741775" cy="250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75">
                  <a:extLst>
                    <a:ext uri="{9D8B030D-6E8A-4147-A177-3AD203B41FA5}">
                      <a16:colId xmlns:a16="http://schemas.microsoft.com/office/drawing/2014/main" val="3091237349"/>
                    </a:ext>
                  </a:extLst>
                </a:gridCol>
              </a:tblGrid>
              <a:tr h="58053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Overall score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555325"/>
                  </a:ext>
                </a:extLst>
              </a:tr>
              <a:tr h="3842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30884900"/>
                  </a:ext>
                </a:extLst>
              </a:tr>
              <a:tr h="3842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03501500"/>
                  </a:ext>
                </a:extLst>
              </a:tr>
              <a:tr h="3842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6192142"/>
                  </a:ext>
                </a:extLst>
              </a:tr>
              <a:tr h="3842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6991643"/>
                  </a:ext>
                </a:extLst>
              </a:tr>
              <a:tr h="3842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8437415"/>
                  </a:ext>
                </a:extLst>
              </a:tr>
            </a:tbl>
          </a:graphicData>
        </a:graphic>
      </p:graphicFrame>
      <p:sp>
        <p:nvSpPr>
          <p:cNvPr id="10" name="Pentagon 9"/>
          <p:cNvSpPr/>
          <p:nvPr/>
        </p:nvSpPr>
        <p:spPr>
          <a:xfrm flipH="1">
            <a:off x="9411133" y="442484"/>
            <a:ext cx="2780867" cy="59574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dirty="0"/>
              <a:t>Comparison of decision criteria (Experts’ </a:t>
            </a:r>
            <a:r>
              <a:rPr lang="en-US" dirty="0" smtClean="0"/>
              <a:t>judgment)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9405" y="0"/>
            <a:ext cx="1088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making: AHP method applied for network bridge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– Zaharah et. al.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45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/>
          </p:nvPr>
        </p:nvGraphicFramePr>
        <p:xfrm>
          <a:off x="443345" y="442484"/>
          <a:ext cx="538942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Pentagon 4"/>
          <p:cNvSpPr/>
          <p:nvPr/>
        </p:nvSpPr>
        <p:spPr>
          <a:xfrm flipH="1">
            <a:off x="10804357" y="442484"/>
            <a:ext cx="1387642" cy="59574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720" y="3624594"/>
            <a:ext cx="9015412" cy="3025157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1431531" y="5069903"/>
            <a:ext cx="318377" cy="1579848"/>
            <a:chOff x="2823691" y="5069903"/>
            <a:chExt cx="318377" cy="1579848"/>
          </a:xfrm>
        </p:grpSpPr>
        <p:sp>
          <p:nvSpPr>
            <p:cNvPr id="9" name="Oval 8"/>
            <p:cNvSpPr/>
            <p:nvPr/>
          </p:nvSpPr>
          <p:spPr>
            <a:xfrm>
              <a:off x="2843921" y="5689914"/>
              <a:ext cx="288032" cy="324036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2854036" y="5069903"/>
              <a:ext cx="288032" cy="32403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2833806" y="6325715"/>
              <a:ext cx="288032" cy="32403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2823691" y="6007995"/>
              <a:ext cx="288032" cy="324036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2850023" y="5341456"/>
              <a:ext cx="288032" cy="32403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</p:grpSp>
      <p:graphicFrame>
        <p:nvGraphicFramePr>
          <p:cNvPr id="20" name="Chart 19"/>
          <p:cNvGraphicFramePr>
            <a:graphicFrameLocks/>
          </p:cNvGraphicFramePr>
          <p:nvPr>
            <p:extLst/>
          </p:nvPr>
        </p:nvGraphicFramePr>
        <p:xfrm>
          <a:off x="5832765" y="442484"/>
          <a:ext cx="6126624" cy="2914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71433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0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entagon 4"/>
          <p:cNvSpPr/>
          <p:nvPr/>
        </p:nvSpPr>
        <p:spPr>
          <a:xfrm flipH="1">
            <a:off x="10804357" y="442484"/>
            <a:ext cx="1387642" cy="59574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720" y="3624594"/>
            <a:ext cx="9015412" cy="3025157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1431531" y="5069903"/>
            <a:ext cx="318377" cy="1579848"/>
            <a:chOff x="2823691" y="5069903"/>
            <a:chExt cx="318377" cy="1579848"/>
          </a:xfrm>
        </p:grpSpPr>
        <p:sp>
          <p:nvSpPr>
            <p:cNvPr id="9" name="Oval 8"/>
            <p:cNvSpPr/>
            <p:nvPr/>
          </p:nvSpPr>
          <p:spPr>
            <a:xfrm>
              <a:off x="2843921" y="5689914"/>
              <a:ext cx="288032" cy="324036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2854036" y="5069903"/>
              <a:ext cx="288032" cy="32403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833806" y="6325715"/>
              <a:ext cx="288032" cy="32403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2823691" y="6007995"/>
              <a:ext cx="288032" cy="324036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2850023" y="5341456"/>
              <a:ext cx="288032" cy="32403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</p:grpSp>
      <p:graphicFrame>
        <p:nvGraphicFramePr>
          <p:cNvPr id="12" name="Chart 11"/>
          <p:cNvGraphicFramePr>
            <a:graphicFrameLocks/>
          </p:cNvGraphicFramePr>
          <p:nvPr>
            <p:extLst/>
          </p:nvPr>
        </p:nvGraphicFramePr>
        <p:xfrm>
          <a:off x="252663" y="442484"/>
          <a:ext cx="5347492" cy="2910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/>
          <p:cNvGraphicFramePr>
            <a:graphicFrameLocks/>
          </p:cNvGraphicFramePr>
          <p:nvPr>
            <p:extLst/>
          </p:nvPr>
        </p:nvGraphicFramePr>
        <p:xfrm>
          <a:off x="5859379" y="442484"/>
          <a:ext cx="5919536" cy="2818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663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1255" y="1844824"/>
            <a:ext cx="9720073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The framework of multi-criteria decision making (MCDM)  provides a guidance on how to implement multiple performance goals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The methods of MCDM incorporate decision makers preferences on multiple (conflicting) performance indicators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/>
              <a:t>The pairwise comparison of AHP grows exponentially when presented with large number of performance indicators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For the maintenance optimization over the network, a link between the performance indicators at object level and the goal on network level needs to be established.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/>
              <a:t>The quantification of performance goals, other than technical goals, is a challenge. 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99405" y="0"/>
            <a:ext cx="1088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making: AHP method applied for network bridge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– Zaharah et. al.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64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8" y="2420888"/>
            <a:ext cx="5700825" cy="319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8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Zagreb_Workshop_template_DS</Template>
  <TotalTime>152</TotalTime>
  <Words>1120</Words>
  <Application>Microsoft Office PowerPoint</Application>
  <PresentationFormat>Widescreen</PresentationFormat>
  <Paragraphs>278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Arial</vt:lpstr>
      <vt:lpstr>Arial </vt:lpstr>
      <vt:lpstr>Arial (headings)</vt:lpstr>
      <vt:lpstr>Calibri</vt:lpstr>
      <vt:lpstr>Times New Roman</vt:lpstr>
      <vt:lpstr>Tw Cen MT</vt:lpstr>
      <vt:lpstr>Tw Cen MT Condensed</vt:lpstr>
      <vt:lpstr>Wingdings</vt:lpstr>
      <vt:lpstr>Wingdings 3</vt:lpstr>
      <vt:lpstr>Office Theme</vt:lpstr>
      <vt:lpstr>Custom Design</vt:lpstr>
      <vt:lpstr>Integral</vt:lpstr>
      <vt:lpstr>Multi-criteria decision making: AHP method applied for network bridge prioritization</vt:lpstr>
      <vt:lpstr>Introduction </vt:lpstr>
      <vt:lpstr>Bridge maintenance planning Object level</vt:lpstr>
      <vt:lpstr>Bridge maintenance planning Network Level</vt:lpstr>
      <vt:lpstr>PowerPoint Presentation</vt:lpstr>
      <vt:lpstr>Multi-criteria decision making For maintenance planning</vt:lpstr>
      <vt:lpstr>PowerPoint Presentation</vt:lpstr>
      <vt:lpstr>Analytical Hierarchy Process Illustrative example</vt:lpstr>
      <vt:lpstr>Analytical Hierarchy Process Preference structure</vt:lpstr>
      <vt:lpstr>Analytical Hierarchy Process Matrix normalization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OUR PRESENTATION HERE</dc:title>
  <dc:creator>Ana Mandic Ivankovic</dc:creator>
  <cp:lastModifiedBy>Allah Bukhsh, Z. (ET)</cp:lastModifiedBy>
  <cp:revision>19</cp:revision>
  <dcterms:created xsi:type="dcterms:W3CDTF">2017-01-10T13:22:06Z</dcterms:created>
  <dcterms:modified xsi:type="dcterms:W3CDTF">2017-02-28T11:31:43Z</dcterms:modified>
</cp:coreProperties>
</file>